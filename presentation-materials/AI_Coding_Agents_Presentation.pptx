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24"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6" d="100"/>
          <a:sy n="106" d="100"/>
        </p:scale>
        <p:origin x="137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group and the central question. Explain that the presentation examines both the learning benefits and the risks of depending too heavily on AI coding 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coding tools are moving beyond autocomplete. Modern agents can inspect a project, edit files, run commands, test code, and iterate. In 2026, desktop and IDE integrations made this agent-style workflow more accessible.</a:t>
            </a:r>
          </a:p>
          <a:p>
            <a:endParaRPr/>
          </a:p>
          <a:p>
            <a:r>
              <a:t>[Sources]</a:t>
            </a:r>
          </a:p>
          <a:p>
            <a:r>
              <a:t>https://openai.com/index/introducing-codex/</a:t>
            </a:r>
          </a:p>
          <a:p>
            <a:r>
              <a:t>https://openai.com/index/introducing-the-codex-app/</a:t>
            </a:r>
          </a:p>
          <a:p>
            <a:r>
              <a:t>https://github.blog/changelog/2026-06-30-copilot-agent-is-now-available-in-jetbrains-ai-assistant/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learners, an agent can explain code and provide examples. For programmers, it can help investigate errors and automate repetitive work. The benefit is strongest when users ask for explanations and verify the result.</a:t>
            </a:r>
          </a:p>
          <a:p>
            <a:endParaRPr/>
          </a:p>
          <a:p>
            <a:r>
              <a:t>[Sources]</a:t>
            </a:r>
          </a:p>
          <a:p>
            <a:r>
              <a:t>https://arxiv.org/abs/2510.03884</a:t>
            </a:r>
          </a:p>
          <a:p>
            <a:r>
              <a:t>https://openai.com/index/introducing-the-codex-app/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speed that makes AI attractive can hide problems. Beginners may trust incorrect output, expose sensitive information, or submit work they cannot explain. Responsible use requires testing, disclosure, and independent practice.</a:t>
            </a:r>
          </a:p>
          <a:p>
            <a:endParaRPr/>
          </a:p>
          <a:p>
            <a:r>
              <a:t>[Sources]</a:t>
            </a:r>
          </a:p>
          <a:p>
            <a:r>
              <a:t>https://arxiv.org/abs/2510.03884</a:t>
            </a:r>
          </a:p>
          <a:p>
            <a:r>
              <a:t>https://www.oecd.org/en/publications/oecd-digital-education-outlook-2026_062a7394-en.html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simple demonstration can show the correct relationship: AI proposes, but the human tests and decides. For example, an average function must handle an empty list and unexpected input instead of being copied immediately.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OECD offers a balanced conclusion: generative AI can support learning when guided by educational goals. But outsourcing the task may improve the final answer without improving the learner's knowledge. Our recommendation is to use AI as a tutor and reviewer, not as a substitute for thinking.</a:t>
            </a:r>
          </a:p>
          <a:p>
            <a:endParaRPr/>
          </a:p>
          <a:p>
            <a:r>
              <a:t>[Sources]</a:t>
            </a:r>
          </a:p>
          <a:p>
            <a:r>
              <a:t>https://www.oecd.org/en/publications/oecd-digital-education-outlook-2026_062a7394-en.html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with the discussion question and pause. Invite classmates to consider both productivity and the need to develop independent 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55959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EE6A364-A39C-470E-B89A-9BD899585684}"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85279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DE90F28-AFBB-4AB2-AA79-6D3F72ED131B}" type="slidenum">
              <a:rPr lang="en-US" smtClean="0"/>
              <a:t>‹#›</a:t>
            </a:fld>
            <a:endParaRPr lang="en-US" dirty="0"/>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7FA43F5B-065E-43CE-B3FD-98C48A6F94D7}" type="datetime1">
              <a:rPr lang="en-US" smtClean="0"/>
              <a:t>8/5/2026</a:t>
            </a:fld>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endParaRPr lang="en-US" dirty="0"/>
          </a:p>
        </p:txBody>
      </p:sp>
    </p:spTree>
    <p:extLst>
      <p:ext uri="{BB962C8B-B14F-4D97-AF65-F5344CB8AC3E}">
        <p14:creationId xmlns:p14="http://schemas.microsoft.com/office/powerpoint/2010/main" val="22890235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89814387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45146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082059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DE90F28-AFBB-4AB2-AA79-6D3F72ED131B}" type="slidenum">
              <a:rPr lang="en-US" smtClean="0"/>
              <a:pPr/>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18315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84952478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85939584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93286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41556725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65969576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06410841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345813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905182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573247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305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72620435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DE90F28-AFBB-4AB2-AA79-6D3F72ED131B}" type="slidenum">
              <a:rPr lang="en-US" smtClean="0"/>
              <a:pPr/>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9076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4291409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7FA43F5B-065E-43CE-B3FD-98C48A6F94D7}" type="datetime1">
              <a:rPr lang="en-US" smtClean="0"/>
              <a:pPr/>
              <a:t>8/5/2026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830824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728085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8899224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7FA43F5B-065E-43CE-B3FD-98C48A6F94D7}" type="datetime1">
              <a:rPr lang="en-US" smtClean="0"/>
              <a:pPr/>
              <a:t>8/5/2026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5607299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87CFF128-BAC7-4E0D-8F77-28A571D93B6F}" type="datetime1">
              <a:rPr lang="en-US" smtClean="0"/>
              <a:pPr/>
              <a:t>8/5/2026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472424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9746789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5214871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1551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7FA43F5B-065E-43CE-B3FD-98C48A6F94D7}" type="datetime1">
              <a:rPr lang="en-US" smtClean="0"/>
              <a:pPr/>
              <a:t>8/5/2026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23481399"/>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3-1">
            <a:extLst>
              <a:ext uri="{FF2B5EF4-FFF2-40B4-BE49-F238E27FC236}">
                <a16:creationId xmlns:a16="http://schemas.microsoft.com/office/drawing/2014/main" id="{5F618EC3-17BC-4837-8335-1CEFB2D49109}"/>
              </a:ext>
            </a:extLst>
          </p:cNvPr>
          <p:cNvSpPr>
            <a:spLocks noGrp="1"/>
          </p:cNvSpPr>
          <p:nvPr/>
        </p:nvSpPr>
        <p:spPr>
          <a:xfrm>
            <a:off x="257175" y="1385180"/>
            <a:ext cx="11404664" cy="3213979"/>
          </a:xfrm>
          <a:prstGeom prst="rect">
            <a:avLst/>
          </a:prstGeom>
        </p:spPr>
        <p:txBody>
          <a:bodyPr lIns="0" tIns="0" rIns="0" bIns="0" anchor="b">
            <a:noAutofit/>
          </a:bodyPr>
          <a:lstStyle/>
          <a:p>
            <a:pPr algn="ctr">
              <a:lnSpc>
                <a:spcPct val="100000"/>
              </a:lnSpc>
              <a:buNone/>
              <a:defRPr sz="6000">
                <a:solidFill>
                  <a:srgbClr val="000000"/>
                </a:solidFill>
                <a:latin typeface="Helvetica Neue"/>
                <a:ea typeface="Helvetica Neue"/>
                <a:cs typeface="Helvetica Neue"/>
              </a:defRPr>
            </a:pPr>
            <a:r>
              <a:rPr sz="4350" b="1" dirty="0">
                <a:solidFill>
                  <a:srgbClr val="000000"/>
                </a:solidFill>
                <a:latin typeface="Helvetica Neue"/>
                <a:ea typeface="Helvetica Neue"/>
                <a:cs typeface="Helvetica Neue"/>
              </a:rPr>
              <a:t>The Rise of AI Coding Agents in 2026</a:t>
            </a:r>
            <a:endParaRPr lang="en-CA" sz="4350" b="1" dirty="0">
              <a:solidFill>
                <a:srgbClr val="000000"/>
              </a:solidFill>
              <a:latin typeface="Helvetica Neue"/>
              <a:ea typeface="Helvetica Neue"/>
              <a:cs typeface="Helvetica Neue"/>
            </a:endParaRPr>
          </a:p>
          <a:p>
            <a:pPr algn="ctr">
              <a:lnSpc>
                <a:spcPct val="100000"/>
              </a:lnSpc>
              <a:buNone/>
              <a:defRPr sz="6000">
                <a:solidFill>
                  <a:srgbClr val="000000"/>
                </a:solidFill>
                <a:latin typeface="Helvetica Neue"/>
                <a:ea typeface="Helvetica Neue"/>
                <a:cs typeface="Helvetica Neue"/>
              </a:defRPr>
            </a:pPr>
            <a:endParaRPr lang="en-CA" sz="4350" b="1" dirty="0">
              <a:solidFill>
                <a:srgbClr val="000000"/>
              </a:solidFill>
              <a:latin typeface="Helvetica Neue"/>
              <a:ea typeface="Helvetica Neue"/>
              <a:cs typeface="Helvetica Neue"/>
            </a:endParaRPr>
          </a:p>
          <a:p>
            <a:pPr algn="ctr">
              <a:lnSpc>
                <a:spcPct val="100000"/>
              </a:lnSpc>
              <a:buNone/>
              <a:defRPr sz="6000">
                <a:solidFill>
                  <a:srgbClr val="000000"/>
                </a:solidFill>
                <a:latin typeface="Helvetica Neue"/>
                <a:ea typeface="Helvetica Neue"/>
                <a:cs typeface="Helvetica Neue"/>
              </a:defRPr>
            </a:pPr>
            <a:endParaRPr lang="en-CA" sz="4350" b="1" dirty="0">
              <a:solidFill>
                <a:srgbClr val="000000"/>
              </a:solidFill>
              <a:latin typeface="Helvetica Neue"/>
              <a:ea typeface="Helvetica Neue"/>
              <a:cs typeface="Helvetica Neue"/>
            </a:endParaRPr>
          </a:p>
          <a:p>
            <a:pPr algn="ctr">
              <a:lnSpc>
                <a:spcPct val="100000"/>
              </a:lnSpc>
              <a:buNone/>
              <a:defRPr sz="6000">
                <a:solidFill>
                  <a:srgbClr val="000000"/>
                </a:solidFill>
                <a:latin typeface="Helvetica Neue"/>
                <a:ea typeface="Helvetica Neue"/>
                <a:cs typeface="Helvetica Neue"/>
              </a:defRPr>
            </a:pPr>
            <a:r>
              <a:rPr sz="3000" b="1" dirty="0">
                <a:solidFill>
                  <a:srgbClr val="000000"/>
                </a:solidFill>
                <a:latin typeface="Helvetica Neue"/>
                <a:ea typeface="Helvetica Neue"/>
                <a:cs typeface="Helvetica Neue"/>
              </a:rPr>
              <a:t>Helpful tools—or a risk of</a:t>
            </a:r>
            <a:r>
              <a:rPr lang="en-CA" sz="3000" b="1" dirty="0">
                <a:solidFill>
                  <a:srgbClr val="000000"/>
                </a:solidFill>
                <a:latin typeface="Helvetica Neue"/>
                <a:ea typeface="Helvetica Neue"/>
                <a:cs typeface="Helvetica Neue"/>
              </a:rPr>
              <a:t> </a:t>
            </a:r>
            <a:r>
              <a:rPr sz="3000" b="1" dirty="0">
                <a:solidFill>
                  <a:srgbClr val="000000"/>
                </a:solidFill>
                <a:latin typeface="Helvetica Neue"/>
                <a:ea typeface="Helvetica Neue"/>
                <a:cs typeface="Helvetica Neue"/>
              </a:rPr>
              <a:t>overdependence?</a:t>
            </a:r>
          </a:p>
        </p:txBody>
      </p:sp>
      <p:sp>
        <p:nvSpPr>
          <p:cNvPr id="2" name="Subtitle-4-2">
            <a:extLst>
              <a:ext uri="{FF2B5EF4-FFF2-40B4-BE49-F238E27FC236}">
                <a16:creationId xmlns:a16="http://schemas.microsoft.com/office/drawing/2014/main" id="{BC312599-9F14-490F-8B8E-DF0D95A08C15}"/>
              </a:ext>
            </a:extLst>
          </p:cNvPr>
          <p:cNvSpPr>
            <a:spLocks noGrp="1"/>
          </p:cNvSpPr>
          <p:nvPr/>
        </p:nvSpPr>
        <p:spPr>
          <a:xfrm>
            <a:off x="393668" y="392240"/>
            <a:ext cx="6157817" cy="649129"/>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CEP146 · AI CURRENT EVENT</a:t>
            </a:r>
          </a:p>
        </p:txBody>
      </p:sp>
      <p:sp>
        <p:nvSpPr>
          <p:cNvPr id="3" name="Subtitle-4-3">
            <a:extLst>
              <a:ext uri="{FF2B5EF4-FFF2-40B4-BE49-F238E27FC236}">
                <a16:creationId xmlns:a16="http://schemas.microsoft.com/office/drawing/2014/main" id="{CE98ED9F-C92F-4B81-A15F-AAD51AB63DCA}"/>
              </a:ext>
            </a:extLst>
          </p:cNvPr>
          <p:cNvSpPr>
            <a:spLocks noGrp="1"/>
          </p:cNvSpPr>
          <p:nvPr/>
        </p:nvSpPr>
        <p:spPr>
          <a:xfrm>
            <a:off x="7886700" y="392240"/>
            <a:ext cx="3911632" cy="649129"/>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500" dirty="0">
                <a:solidFill>
                  <a:srgbClr val="000000"/>
                </a:solidFill>
                <a:latin typeface="Helvetica Neue"/>
                <a:ea typeface="Helvetica Neue"/>
                <a:cs typeface="Helvetica Neue"/>
              </a:rPr>
              <a:t>HeeJung Kim · Arif Azmi · Eren Cam
Professor</a:t>
            </a:r>
            <a:r>
              <a:rPr lang="en-CA" sz="1500" dirty="0">
                <a:solidFill>
                  <a:srgbClr val="000000"/>
                </a:solidFill>
                <a:latin typeface="Helvetica Neue"/>
                <a:ea typeface="Helvetica Neue"/>
                <a:cs typeface="Helvetica Neue"/>
              </a:rPr>
              <a:t>:</a:t>
            </a:r>
            <a:r>
              <a:rPr sz="1500" dirty="0">
                <a:solidFill>
                  <a:srgbClr val="000000"/>
                </a:solidFill>
                <a:latin typeface="Helvetica Neue"/>
                <a:ea typeface="Helvetica Neue"/>
                <a:cs typeface="Helvetica Neue"/>
              </a:rPr>
              <a:t> Hossein </a:t>
            </a:r>
            <a:r>
              <a:rPr sz="1500" dirty="0" err="1">
                <a:solidFill>
                  <a:srgbClr val="000000"/>
                </a:solidFill>
                <a:latin typeface="Helvetica Neue"/>
                <a:ea typeface="Helvetica Neue"/>
                <a:cs typeface="Helvetica Neue"/>
              </a:rPr>
              <a:t>Pourmodheji</a:t>
            </a:r>
            <a:endParaRPr sz="1500" dirty="0">
              <a:solidFill>
                <a:srgbClr val="000000"/>
              </a:solidFill>
              <a:latin typeface="Helvetica Neue"/>
              <a:ea typeface="Helvetica Neue"/>
              <a:cs typeface="Helvetica Neue"/>
            </a:endParaRPr>
          </a:p>
        </p:txBody>
      </p:sp>
      <p:sp>
        <p:nvSpPr>
          <p:cNvPr id="4" name="blue-accent">
            <a:extLst>
              <a:ext uri="{FF2B5EF4-FFF2-40B4-BE49-F238E27FC236}">
                <a16:creationId xmlns:a16="http://schemas.microsoft.com/office/drawing/2014/main" id="{F6154422-DE38-402A-8D51-B7EA63B04F4C}"/>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2078270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Number-Placeholder-3-2">
            <a:extLst>
              <a:ext uri="{FF2B5EF4-FFF2-40B4-BE49-F238E27FC236}">
                <a16:creationId xmlns:a16="http://schemas.microsoft.com/office/drawing/2014/main" id="{663EB646-E32D-4407-AC9B-3DC72495CE1D}"/>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2</a:t>
            </a:r>
          </a:p>
        </p:txBody>
      </p:sp>
      <p:sp>
        <p:nvSpPr>
          <p:cNvPr id="2" name="Title-10-3">
            <a:extLst>
              <a:ext uri="{FF2B5EF4-FFF2-40B4-BE49-F238E27FC236}">
                <a16:creationId xmlns:a16="http://schemas.microsoft.com/office/drawing/2014/main" id="{A84229D2-6102-4D1B-96EC-B97318E39706}"/>
              </a:ext>
            </a:extLst>
          </p:cNvPr>
          <p:cNvSpPr>
            <a:spLocks noGrp="1"/>
          </p:cNvSpPr>
          <p:nvPr/>
        </p:nvSpPr>
        <p:spPr>
          <a:xfrm>
            <a:off x="393668" y="344043"/>
            <a:ext cx="11404568" cy="1047464"/>
          </a:xfrm>
          <a:prstGeom prst="rect">
            <a:avLst/>
          </a:prstGeom>
        </p:spPr>
        <p:txBody>
          <a:bodyPr lIns="0" tIns="0" rIns="0" bIns="0" anchor="t">
            <a:normAutofit/>
          </a:bodyPr>
          <a:lstStyle/>
          <a:p>
            <a:pPr algn="l">
              <a:lnSpc>
                <a:spcPct val="100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Coding assistants became agents</a:t>
            </a:r>
          </a:p>
        </p:txBody>
      </p:sp>
      <p:cxnSp>
        <p:nvCxnSpPr>
          <p:cNvPr id="16" name="Google-Shape-2259-p159-4"/>
          <p:cNvCxnSpPr/>
          <p:nvPr/>
        </p:nvCxnSpPr>
        <p:spPr>
          <a:xfrm>
            <a:off x="337757" y="3373755"/>
            <a:ext cx="12245435" cy="286"/>
          </a:xfrm>
          <a:prstGeom prst="straightConnector1">
            <a:avLst/>
          </a:prstGeom>
          <a:ln w="9525">
            <a:solidFill>
              <a:srgbClr val="000000"/>
            </a:solidFill>
            <a:prstDash val="solid"/>
          </a:ln>
        </p:spPr>
      </p:cxnSp>
      <p:sp>
        <p:nvSpPr>
          <p:cNvPr id="4" name="Google-Shape-2260-p159-5">
            <a:extLst>
              <a:ext uri="{FF2B5EF4-FFF2-40B4-BE49-F238E27FC236}">
                <a16:creationId xmlns:a16="http://schemas.microsoft.com/office/drawing/2014/main" id="{B5CBF73F-E079-4D7F-8694-DAAA9BFC05C5}"/>
              </a:ext>
            </a:extLst>
          </p:cNvPr>
          <p:cNvSpPr>
            <a:spLocks noGrp="1"/>
          </p:cNvSpPr>
          <p:nvPr/>
        </p:nvSpPr>
        <p:spPr>
          <a:xfrm>
            <a:off x="337757" y="3320225"/>
            <a:ext cx="107061" cy="107061"/>
          </a:xfrm>
          <a:prstGeom prst="ellipse">
            <a:avLst/>
          </a:prstGeom>
          <a:solidFill>
            <a:srgbClr val="000000"/>
          </a:solidFill>
        </p:spPr>
        <p:txBody>
          <a:bodyPr/>
          <a:lstStyle/>
          <a:p>
            <a:endParaRPr lang="en-CA"/>
          </a:p>
        </p:txBody>
      </p:sp>
      <p:sp>
        <p:nvSpPr>
          <p:cNvPr id="5" name="Google-Shape-2261-p159-6">
            <a:extLst>
              <a:ext uri="{FF2B5EF4-FFF2-40B4-BE49-F238E27FC236}">
                <a16:creationId xmlns:a16="http://schemas.microsoft.com/office/drawing/2014/main" id="{335A1DFF-AC59-4D03-9433-A809B931AD92}"/>
              </a:ext>
            </a:extLst>
          </p:cNvPr>
          <p:cNvSpPr>
            <a:spLocks noGrp="1"/>
          </p:cNvSpPr>
          <p:nvPr/>
        </p:nvSpPr>
        <p:spPr>
          <a:xfrm>
            <a:off x="4251770" y="3320225"/>
            <a:ext cx="107061" cy="107061"/>
          </a:xfrm>
          <a:prstGeom prst="ellipse">
            <a:avLst/>
          </a:prstGeom>
          <a:solidFill>
            <a:srgbClr val="000000"/>
          </a:solidFill>
        </p:spPr>
        <p:txBody>
          <a:bodyPr/>
          <a:lstStyle/>
          <a:p>
            <a:endParaRPr lang="en-CA"/>
          </a:p>
        </p:txBody>
      </p:sp>
      <p:sp>
        <p:nvSpPr>
          <p:cNvPr id="6" name="Google-Shape-2262-p159-7">
            <a:extLst>
              <a:ext uri="{FF2B5EF4-FFF2-40B4-BE49-F238E27FC236}">
                <a16:creationId xmlns:a16="http://schemas.microsoft.com/office/drawing/2014/main" id="{EEB4BFDB-2550-4EF2-BE95-1FF3760EB786}"/>
              </a:ext>
            </a:extLst>
          </p:cNvPr>
          <p:cNvSpPr>
            <a:spLocks noGrp="1"/>
          </p:cNvSpPr>
          <p:nvPr/>
        </p:nvSpPr>
        <p:spPr>
          <a:xfrm>
            <a:off x="8176070" y="3320225"/>
            <a:ext cx="107061" cy="107061"/>
          </a:xfrm>
          <a:prstGeom prst="ellipse">
            <a:avLst/>
          </a:prstGeom>
          <a:solidFill>
            <a:srgbClr val="000000"/>
          </a:solidFill>
        </p:spPr>
        <p:txBody>
          <a:bodyPr/>
          <a:lstStyle/>
          <a:p>
            <a:endParaRPr lang="en-CA"/>
          </a:p>
        </p:txBody>
      </p:sp>
      <p:sp>
        <p:nvSpPr>
          <p:cNvPr id="7" name="Content-Placeholder-15-8">
            <a:extLst>
              <a:ext uri="{FF2B5EF4-FFF2-40B4-BE49-F238E27FC236}">
                <a16:creationId xmlns:a16="http://schemas.microsoft.com/office/drawing/2014/main" id="{4D572478-C350-4C76-BC9B-2A1CD6D76882}"/>
              </a:ext>
            </a:extLst>
          </p:cNvPr>
          <p:cNvSpPr>
            <a:spLocks noGrp="1"/>
          </p:cNvSpPr>
          <p:nvPr/>
        </p:nvSpPr>
        <p:spPr>
          <a:xfrm>
            <a:off x="393668" y="2843308"/>
            <a:ext cx="1612868" cy="262414"/>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APR 2025</a:t>
            </a:r>
          </a:p>
        </p:txBody>
      </p:sp>
      <p:sp>
        <p:nvSpPr>
          <p:cNvPr id="8" name="Content-Placeholder-15-9">
            <a:extLst>
              <a:ext uri="{FF2B5EF4-FFF2-40B4-BE49-F238E27FC236}">
                <a16:creationId xmlns:a16="http://schemas.microsoft.com/office/drawing/2014/main" id="{FFA82C33-1782-403C-8401-B107AE106ED2}"/>
              </a:ext>
            </a:extLst>
          </p:cNvPr>
          <p:cNvSpPr>
            <a:spLocks noGrp="1"/>
          </p:cNvSpPr>
          <p:nvPr/>
        </p:nvSpPr>
        <p:spPr>
          <a:xfrm>
            <a:off x="4294156" y="2843308"/>
            <a:ext cx="1612868" cy="262414"/>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FEB–MAR 2026</a:t>
            </a:r>
          </a:p>
        </p:txBody>
      </p:sp>
      <p:sp>
        <p:nvSpPr>
          <p:cNvPr id="9" name="Content-Placeholder-15-10">
            <a:extLst>
              <a:ext uri="{FF2B5EF4-FFF2-40B4-BE49-F238E27FC236}">
                <a16:creationId xmlns:a16="http://schemas.microsoft.com/office/drawing/2014/main" id="{4FEA6119-DB5C-4DA7-9A14-EE3F397C5BD0}"/>
              </a:ext>
            </a:extLst>
          </p:cNvPr>
          <p:cNvSpPr>
            <a:spLocks noGrp="1"/>
          </p:cNvSpPr>
          <p:nvPr/>
        </p:nvSpPr>
        <p:spPr>
          <a:xfrm>
            <a:off x="8223218" y="2843308"/>
            <a:ext cx="1612868" cy="262414"/>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JUN 2026</a:t>
            </a:r>
          </a:p>
        </p:txBody>
      </p:sp>
      <p:sp>
        <p:nvSpPr>
          <p:cNvPr id="10" name="Text-Placeholder-16-11">
            <a:extLst>
              <a:ext uri="{FF2B5EF4-FFF2-40B4-BE49-F238E27FC236}">
                <a16:creationId xmlns:a16="http://schemas.microsoft.com/office/drawing/2014/main" id="{9DD4819E-81F0-447A-8163-3A3DA4B80051}"/>
              </a:ext>
            </a:extLst>
          </p:cNvPr>
          <p:cNvSpPr>
            <a:spLocks noGrp="1"/>
          </p:cNvSpPr>
          <p:nvPr/>
        </p:nvSpPr>
        <p:spPr>
          <a:xfrm>
            <a:off x="4317111" y="3822668"/>
            <a:ext cx="3156109" cy="158629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Desktop workflow</a:t>
            </a:r>
          </a:p>
          <a:p>
            <a:pPr algn="l">
              <a:lnSpc>
                <a:spcPct val="100000"/>
              </a:lnSpc>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The Codex app reaches macOS, then Windows.</a:t>
            </a:r>
          </a:p>
        </p:txBody>
      </p:sp>
      <p:sp>
        <p:nvSpPr>
          <p:cNvPr id="11" name="Text-Placeholder-16-12">
            <a:extLst>
              <a:ext uri="{FF2B5EF4-FFF2-40B4-BE49-F238E27FC236}">
                <a16:creationId xmlns:a16="http://schemas.microsoft.com/office/drawing/2014/main" id="{D9EB0436-019E-4570-86EA-F77CDA2B73B6}"/>
              </a:ext>
            </a:extLst>
          </p:cNvPr>
          <p:cNvSpPr>
            <a:spLocks noGrp="1"/>
          </p:cNvSpPr>
          <p:nvPr/>
        </p:nvSpPr>
        <p:spPr>
          <a:xfrm>
            <a:off x="399859" y="3822668"/>
            <a:ext cx="3156109" cy="158629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Codex preview</a:t>
            </a:r>
          </a:p>
          <a:p>
            <a:pPr algn="l">
              <a:lnSpc>
                <a:spcPct val="100000"/>
              </a:lnSpc>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AI begins handling software tasks in a cloud workspace.</a:t>
            </a:r>
          </a:p>
        </p:txBody>
      </p:sp>
      <p:sp>
        <p:nvSpPr>
          <p:cNvPr id="12" name="Text-Placeholder-16-13">
            <a:extLst>
              <a:ext uri="{FF2B5EF4-FFF2-40B4-BE49-F238E27FC236}">
                <a16:creationId xmlns:a16="http://schemas.microsoft.com/office/drawing/2014/main" id="{B61F6D90-93DE-4B4C-8F69-79C38BEEF572}"/>
              </a:ext>
            </a:extLst>
          </p:cNvPr>
          <p:cNvSpPr>
            <a:spLocks noGrp="1"/>
          </p:cNvSpPr>
          <p:nvPr/>
        </p:nvSpPr>
        <p:spPr>
          <a:xfrm>
            <a:off x="8177879" y="3822668"/>
            <a:ext cx="3156109" cy="158629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Inside the IDE</a:t>
            </a:r>
          </a:p>
          <a:p>
            <a:pPr algn="l">
              <a:lnSpc>
                <a:spcPct val="100000"/>
              </a:lnSpc>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Copilot Agent joins JetBrains AI Assistant.</a:t>
            </a:r>
          </a:p>
        </p:txBody>
      </p:sp>
      <p:sp>
        <p:nvSpPr>
          <p:cNvPr id="13" name="blue-accent">
            <a:extLst>
              <a:ext uri="{FF2B5EF4-FFF2-40B4-BE49-F238E27FC236}">
                <a16:creationId xmlns:a16="http://schemas.microsoft.com/office/drawing/2014/main" id="{891701A5-F3E5-4F8B-B763-1C3D45FA5EB5}"/>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318361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Shape-532-p58-2">
            <a:extLst>
              <a:ext uri="{FF2B5EF4-FFF2-40B4-BE49-F238E27FC236}">
                <a16:creationId xmlns:a16="http://schemas.microsoft.com/office/drawing/2014/main" id="{FE386D3C-BF8C-413E-BD46-3D4BDCD0F109}"/>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3</a:t>
            </a:r>
          </a:p>
        </p:txBody>
      </p:sp>
      <p:sp>
        <p:nvSpPr>
          <p:cNvPr id="2" name="Google-Shape-533-p58-3">
            <a:extLst>
              <a:ext uri="{FF2B5EF4-FFF2-40B4-BE49-F238E27FC236}">
                <a16:creationId xmlns:a16="http://schemas.microsoft.com/office/drawing/2014/main" id="{3E22A34C-F9AD-4069-ACA6-1F31EC05F549}"/>
              </a:ext>
            </a:extLst>
          </p:cNvPr>
          <p:cNvSpPr>
            <a:spLocks noGrp="1"/>
          </p:cNvSpPr>
          <p:nvPr/>
        </p:nvSpPr>
        <p:spPr>
          <a:xfrm>
            <a:off x="393668" y="344043"/>
            <a:ext cx="11404568" cy="1047464"/>
          </a:xfrm>
          <a:prstGeom prst="rect">
            <a:avLst/>
          </a:prstGeom>
        </p:spPr>
        <p:txBody>
          <a:bodyPr wrap="square" lIns="0" tIns="0" rIns="0" bIns="0" anchor="t">
            <a:noAutofit/>
          </a:bodyPr>
          <a:lstStyle/>
          <a:p>
            <a:pPr algn="l">
              <a:lnSpc>
                <a:spcPct val="100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Three ways AI coding agents can help</a:t>
            </a:r>
          </a:p>
        </p:txBody>
      </p:sp>
      <p:sp>
        <p:nvSpPr>
          <p:cNvPr id="3" name="Google-Shape-558-p61-4">
            <a:extLst>
              <a:ext uri="{FF2B5EF4-FFF2-40B4-BE49-F238E27FC236}">
                <a16:creationId xmlns:a16="http://schemas.microsoft.com/office/drawing/2014/main" id="{060066B9-C228-4595-BB43-9F5A4F325476}"/>
              </a:ext>
            </a:extLst>
          </p:cNvPr>
          <p:cNvSpPr>
            <a:spLocks noGrp="1"/>
          </p:cNvSpPr>
          <p:nvPr/>
        </p:nvSpPr>
        <p:spPr>
          <a:xfrm>
            <a:off x="393668" y="4013168"/>
            <a:ext cx="3568732" cy="1981200"/>
          </a:xfrm>
          <a:prstGeom prst="rect">
            <a:avLst/>
          </a:prstGeom>
        </p:spPr>
        <p:txBody>
          <a:bodyPr wrap="square" lIns="0" tIns="0" rIns="0" bIns="0" anchor="t">
            <a:noAutofit/>
          </a:bodyPr>
          <a:lstStyle/>
          <a:p>
            <a:pPr algn="l">
              <a:lnSpc>
                <a:spcPct val="100000"/>
              </a:lnSpc>
              <a:buNone/>
              <a:defRPr sz="2400">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LEARN
Explain unfamiliar code in beginner-friendly language.</a:t>
            </a:r>
          </a:p>
        </p:txBody>
      </p:sp>
      <p:sp>
        <p:nvSpPr>
          <p:cNvPr id="4" name="Google-Shape-559-p61-5">
            <a:extLst>
              <a:ext uri="{FF2B5EF4-FFF2-40B4-BE49-F238E27FC236}">
                <a16:creationId xmlns:a16="http://schemas.microsoft.com/office/drawing/2014/main" id="{FBE94737-1BE5-4192-B5B7-990F0CEA4617}"/>
              </a:ext>
            </a:extLst>
          </p:cNvPr>
          <p:cNvSpPr>
            <a:spLocks noGrp="1"/>
          </p:cNvSpPr>
          <p:nvPr/>
        </p:nvSpPr>
        <p:spPr>
          <a:xfrm>
            <a:off x="4317968" y="4013168"/>
            <a:ext cx="3568732" cy="1981200"/>
          </a:xfrm>
          <a:prstGeom prst="rect">
            <a:avLst/>
          </a:prstGeom>
        </p:spPr>
        <p:txBody>
          <a:bodyPr wrap="square" lIns="0" tIns="0" rIns="0" bIns="0" anchor="t">
            <a:noAutofit/>
          </a:bodyPr>
          <a:lstStyle/>
          <a:p>
            <a:pPr algn="l">
              <a:lnSpc>
                <a:spcPct val="100000"/>
              </a:lnSpc>
              <a:buNone/>
              <a:defRPr sz="2400">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DEBUG
Suggest causes, corrections, and useful tests.</a:t>
            </a:r>
          </a:p>
        </p:txBody>
      </p:sp>
      <p:sp>
        <p:nvSpPr>
          <p:cNvPr id="5" name="Google-Shape-560-p61-6">
            <a:extLst>
              <a:ext uri="{FF2B5EF4-FFF2-40B4-BE49-F238E27FC236}">
                <a16:creationId xmlns:a16="http://schemas.microsoft.com/office/drawing/2014/main" id="{8E4D7574-C480-40D7-A875-4A2403119531}"/>
              </a:ext>
            </a:extLst>
          </p:cNvPr>
          <p:cNvSpPr>
            <a:spLocks noGrp="1"/>
          </p:cNvSpPr>
          <p:nvPr/>
        </p:nvSpPr>
        <p:spPr>
          <a:xfrm>
            <a:off x="8232267" y="4013168"/>
            <a:ext cx="3568732" cy="1981200"/>
          </a:xfrm>
          <a:prstGeom prst="rect">
            <a:avLst/>
          </a:prstGeom>
        </p:spPr>
        <p:txBody>
          <a:bodyPr wrap="square" lIns="0" tIns="0" rIns="0" bIns="0" anchor="t">
            <a:noAutofit/>
          </a:bodyPr>
          <a:lstStyle/>
          <a:p>
            <a:pPr algn="l">
              <a:lnSpc>
                <a:spcPct val="100000"/>
              </a:lnSpc>
              <a:buNone/>
              <a:defRPr sz="2400">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BUILD
Reduce repetitive work and speed up prototypes.</a:t>
            </a:r>
          </a:p>
        </p:txBody>
      </p:sp>
      <p:sp>
        <p:nvSpPr>
          <p:cNvPr id="6" name="Google-Shape-561-p61-7">
            <a:extLst>
              <a:ext uri="{FF2B5EF4-FFF2-40B4-BE49-F238E27FC236}">
                <a16:creationId xmlns:a16="http://schemas.microsoft.com/office/drawing/2014/main" id="{781016A0-DBE0-4048-866B-6C17923A354E}"/>
              </a:ext>
            </a:extLst>
          </p:cNvPr>
          <p:cNvSpPr>
            <a:spLocks noGrp="1"/>
          </p:cNvSpPr>
          <p:nvPr/>
        </p:nvSpPr>
        <p:spPr>
          <a:xfrm>
            <a:off x="4279868" y="3382328"/>
            <a:ext cx="315563" cy="353854"/>
          </a:xfrm>
          <a:custGeom>
            <a:avLst/>
            <a:gdLst/>
            <a:ahLst/>
            <a:cxnLst/>
            <a:rect l="0" t="0" r="0" b="0"/>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a:srgbClr val="000000"/>
          </a:solidFill>
        </p:spPr>
        <p:txBody>
          <a:bodyPr/>
          <a:lstStyle/>
          <a:p>
            <a:endParaRPr lang="en-CA"/>
          </a:p>
        </p:txBody>
      </p:sp>
      <p:sp>
        <p:nvSpPr>
          <p:cNvPr id="7" name="Google-Shape-562-p61-8">
            <a:extLst>
              <a:ext uri="{FF2B5EF4-FFF2-40B4-BE49-F238E27FC236}">
                <a16:creationId xmlns:a16="http://schemas.microsoft.com/office/drawing/2014/main" id="{B1720CF4-1849-4F4E-9BAA-4528A13AAFF2}"/>
              </a:ext>
            </a:extLst>
          </p:cNvPr>
          <p:cNvSpPr>
            <a:spLocks noGrp="1"/>
          </p:cNvSpPr>
          <p:nvPr/>
        </p:nvSpPr>
        <p:spPr>
          <a:xfrm>
            <a:off x="401384" y="3378232"/>
            <a:ext cx="327089" cy="362045"/>
          </a:xfrm>
          <a:custGeom>
            <a:avLst/>
            <a:gdLst/>
            <a:ahLst/>
            <a:cxnLst/>
            <a:rect l="0" t="0" r="0" b="0"/>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a:srgbClr val="000000"/>
          </a:solidFill>
        </p:spPr>
        <p:txBody>
          <a:bodyPr/>
          <a:lstStyle/>
          <a:p>
            <a:endParaRPr lang="en-CA"/>
          </a:p>
        </p:txBody>
      </p:sp>
      <p:sp>
        <p:nvSpPr>
          <p:cNvPr id="8" name="Google-Shape-563-p61-9">
            <a:extLst>
              <a:ext uri="{FF2B5EF4-FFF2-40B4-BE49-F238E27FC236}">
                <a16:creationId xmlns:a16="http://schemas.microsoft.com/office/drawing/2014/main" id="{C0FA209F-670F-49BE-85BF-15200E815A54}"/>
              </a:ext>
            </a:extLst>
          </p:cNvPr>
          <p:cNvSpPr>
            <a:spLocks noGrp="1"/>
          </p:cNvSpPr>
          <p:nvPr/>
        </p:nvSpPr>
        <p:spPr>
          <a:xfrm>
            <a:off x="8231600" y="3406807"/>
            <a:ext cx="338614" cy="270891"/>
          </a:xfrm>
          <a:custGeom>
            <a:avLst/>
            <a:gdLst/>
            <a:ahLst/>
            <a:cxnLst/>
            <a:rect l="0" t="0" r="0" b="0"/>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a:srgbClr val="000000"/>
          </a:solidFill>
        </p:spPr>
        <p:txBody>
          <a:bodyPr/>
          <a:lstStyle/>
          <a:p>
            <a:endParaRPr lang="en-CA"/>
          </a:p>
        </p:txBody>
      </p:sp>
      <p:sp>
        <p:nvSpPr>
          <p:cNvPr id="9" name="blue-accent">
            <a:extLst>
              <a:ext uri="{FF2B5EF4-FFF2-40B4-BE49-F238E27FC236}">
                <a16:creationId xmlns:a16="http://schemas.microsoft.com/office/drawing/2014/main" id="{BE84565B-C484-495F-9B62-DCF40CDEC523}"/>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1734852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Number-Placeholder-1-2">
            <a:extLst>
              <a:ext uri="{FF2B5EF4-FFF2-40B4-BE49-F238E27FC236}">
                <a16:creationId xmlns:a16="http://schemas.microsoft.com/office/drawing/2014/main" id="{C0523AB8-1673-4263-A2DF-E5688D861456}"/>
              </a:ext>
            </a:extLst>
          </p:cNvPr>
          <p:cNvSpPr>
            <a:spLocks noGrp="1"/>
          </p:cNvSpPr>
          <p:nvPr/>
        </p:nvSpPr>
        <p:spPr>
          <a:xfrm>
            <a:off x="11279219" y="6278594"/>
            <a:ext cx="519113"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4</a:t>
            </a:r>
          </a:p>
        </p:txBody>
      </p:sp>
      <p:sp>
        <p:nvSpPr>
          <p:cNvPr id="2" name="Title-2-3">
            <a:extLst>
              <a:ext uri="{FF2B5EF4-FFF2-40B4-BE49-F238E27FC236}">
                <a16:creationId xmlns:a16="http://schemas.microsoft.com/office/drawing/2014/main" id="{4CE8DF53-29BE-4AFE-BDD6-EABFC92A6D55}"/>
              </a:ext>
            </a:extLst>
          </p:cNvPr>
          <p:cNvSpPr>
            <a:spLocks noGrp="1"/>
          </p:cNvSpPr>
          <p:nvPr/>
        </p:nvSpPr>
        <p:spPr>
          <a:xfrm>
            <a:off x="393668" y="344043"/>
            <a:ext cx="11404568" cy="1047464"/>
          </a:xfrm>
          <a:prstGeom prst="rect">
            <a:avLst/>
          </a:prstGeom>
        </p:spPr>
        <p:txBody>
          <a:bodyPr lIns="0" tIns="0" rIns="0" bIns="0" anchor="t">
            <a:normAutofit/>
          </a:bodyPr>
          <a:lstStyle/>
          <a:p>
            <a:pPr algn="l">
              <a:lnSpc>
                <a:spcPct val="100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Speed creates four important risks</a:t>
            </a:r>
          </a:p>
        </p:txBody>
      </p:sp>
      <p:sp>
        <p:nvSpPr>
          <p:cNvPr id="3" name="Content-Placeholder-9-4">
            <a:extLst>
              <a:ext uri="{FF2B5EF4-FFF2-40B4-BE49-F238E27FC236}">
                <a16:creationId xmlns:a16="http://schemas.microsoft.com/office/drawing/2014/main" id="{02C8B9BE-5ADF-4B94-A9FD-6951EB4B9C64}"/>
              </a:ext>
            </a:extLst>
          </p:cNvPr>
          <p:cNvSpPr>
            <a:spLocks noGrp="1"/>
          </p:cNvSpPr>
          <p:nvPr/>
        </p:nvSpPr>
        <p:spPr>
          <a:xfrm>
            <a:off x="393668" y="2031968"/>
            <a:ext cx="5537168" cy="1643063"/>
          </a:xfrm>
          <a:prstGeom prst="rect">
            <a:avLst/>
          </a:prstGeom>
        </p:spPr>
        <p:txBody>
          <a:bodyPr lIns="91440" tIns="45720" rIns="91440" bIns="45720"/>
          <a:lstStyle/>
          <a:p>
            <a:pPr algn="l">
              <a:lnSpc>
                <a:spcPct val="100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01 · Incorrect code</a:t>
            </a:r>
          </a:p>
          <a:p>
            <a:pPr algn="l">
              <a:lnSpc>
                <a:spcPct val="100000"/>
              </a:lnSpc>
              <a:buNone/>
              <a:defRPr sz="240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Confident answers may still contain logic errors.</a:t>
            </a:r>
          </a:p>
        </p:txBody>
      </p:sp>
      <p:sp>
        <p:nvSpPr>
          <p:cNvPr id="4" name="Content-Placeholder-10-5">
            <a:extLst>
              <a:ext uri="{FF2B5EF4-FFF2-40B4-BE49-F238E27FC236}">
                <a16:creationId xmlns:a16="http://schemas.microsoft.com/office/drawing/2014/main" id="{57DBB864-B449-453E-8988-A3F028DDD4EF}"/>
              </a:ext>
            </a:extLst>
          </p:cNvPr>
          <p:cNvSpPr>
            <a:spLocks noGrp="1"/>
          </p:cNvSpPr>
          <p:nvPr/>
        </p:nvSpPr>
        <p:spPr>
          <a:xfrm>
            <a:off x="6256592" y="2031968"/>
            <a:ext cx="5537168" cy="1643063"/>
          </a:xfrm>
          <a:prstGeom prst="rect">
            <a:avLst/>
          </a:prstGeom>
        </p:spPr>
        <p:txBody>
          <a:bodyPr lIns="91440" tIns="45720" rIns="91440" bIns="45720"/>
          <a:lstStyle/>
          <a:p>
            <a:pPr algn="l">
              <a:lnSpc>
                <a:spcPct val="100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02 · Security &amp; privacy</a:t>
            </a:r>
          </a:p>
          <a:p>
            <a:pPr algn="l">
              <a:lnSpc>
                <a:spcPct val="100000"/>
              </a:lnSpc>
              <a:buNone/>
              <a:defRPr sz="240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Generated code and shared data require careful review.</a:t>
            </a:r>
          </a:p>
        </p:txBody>
      </p:sp>
      <p:sp>
        <p:nvSpPr>
          <p:cNvPr id="5" name="Content-Placeholder-9-6">
            <a:extLst>
              <a:ext uri="{FF2B5EF4-FFF2-40B4-BE49-F238E27FC236}">
                <a16:creationId xmlns:a16="http://schemas.microsoft.com/office/drawing/2014/main" id="{39EA8D67-21E5-4E29-8D94-E0D1B25A308A}"/>
              </a:ext>
            </a:extLst>
          </p:cNvPr>
          <p:cNvSpPr>
            <a:spLocks noGrp="1"/>
          </p:cNvSpPr>
          <p:nvPr/>
        </p:nvSpPr>
        <p:spPr>
          <a:xfrm>
            <a:off x="393668" y="4016978"/>
            <a:ext cx="5537168" cy="1643158"/>
          </a:xfrm>
          <a:prstGeom prst="rect">
            <a:avLst/>
          </a:prstGeom>
        </p:spPr>
        <p:txBody>
          <a:bodyPr lIns="0" tIns="0" rIns="0" bIns="0">
            <a:normAutofit/>
          </a:bodyPr>
          <a:lstStyle/>
          <a:p>
            <a:pPr algn="l">
              <a:lnSpc>
                <a:spcPct val="100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03 · Overdependence</a:t>
            </a:r>
          </a:p>
          <a:p>
            <a:pPr algn="l">
              <a:lnSpc>
                <a:spcPct val="100000"/>
              </a:lnSpc>
              <a:buNone/>
              <a:defRPr sz="240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Copying answers can weaken independent problem-solving.</a:t>
            </a:r>
          </a:p>
        </p:txBody>
      </p:sp>
      <p:sp>
        <p:nvSpPr>
          <p:cNvPr id="6" name="Content-Placeholder-10-7">
            <a:extLst>
              <a:ext uri="{FF2B5EF4-FFF2-40B4-BE49-F238E27FC236}">
                <a16:creationId xmlns:a16="http://schemas.microsoft.com/office/drawing/2014/main" id="{6642A8AF-5D52-4A80-A1D5-074039291807}"/>
              </a:ext>
            </a:extLst>
          </p:cNvPr>
          <p:cNvSpPr>
            <a:spLocks noGrp="1"/>
          </p:cNvSpPr>
          <p:nvPr/>
        </p:nvSpPr>
        <p:spPr>
          <a:xfrm>
            <a:off x="6256592" y="4016978"/>
            <a:ext cx="5537168" cy="1643158"/>
          </a:xfrm>
          <a:prstGeom prst="rect">
            <a:avLst/>
          </a:prstGeom>
        </p:spPr>
        <p:txBody>
          <a:bodyPr lIns="0" tIns="0" rIns="0" bIns="0">
            <a:normAutofit/>
          </a:bodyPr>
          <a:lstStyle/>
          <a:p>
            <a:pPr algn="l">
              <a:lnSpc>
                <a:spcPct val="100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04 · Academic integrity</a:t>
            </a:r>
          </a:p>
          <a:p>
            <a:pPr algn="l">
              <a:lnSpc>
                <a:spcPct val="100000"/>
              </a:lnSpc>
              <a:buNone/>
              <a:defRPr sz="2400">
                <a:solidFill>
                  <a:srgbClr val="000000"/>
                </a:solidFill>
                <a:latin typeface="Helvetica Neue"/>
                <a:ea typeface="Helvetica Neue"/>
                <a:cs typeface="Helvetica Neue"/>
              </a:defRPr>
            </a:pPr>
            <a:r>
              <a:rPr sz="1650">
                <a:solidFill>
                  <a:srgbClr val="000000"/>
                </a:solidFill>
                <a:latin typeface="Helvetica Neue"/>
                <a:ea typeface="Helvetica Neue"/>
                <a:cs typeface="Helvetica Neue"/>
              </a:rPr>
              <a:t>AI use must follow course rules and be disclosed.</a:t>
            </a:r>
          </a:p>
        </p:txBody>
      </p:sp>
      <p:sp>
        <p:nvSpPr>
          <p:cNvPr id="7" name="blue-accent">
            <a:extLst>
              <a:ext uri="{FF2B5EF4-FFF2-40B4-BE49-F238E27FC236}">
                <a16:creationId xmlns:a16="http://schemas.microsoft.com/office/drawing/2014/main" id="{CA555180-934B-4D28-867A-246AC5100CC9}"/>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2053313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Shape-532-p58-2">
            <a:extLst>
              <a:ext uri="{FF2B5EF4-FFF2-40B4-BE49-F238E27FC236}">
                <a16:creationId xmlns:a16="http://schemas.microsoft.com/office/drawing/2014/main" id="{63EE6DB0-4E9C-4BA1-8719-25879A70041D}"/>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5</a:t>
            </a:r>
          </a:p>
        </p:txBody>
      </p:sp>
      <p:sp>
        <p:nvSpPr>
          <p:cNvPr id="2" name="Google-Shape-533-p58-3">
            <a:extLst>
              <a:ext uri="{FF2B5EF4-FFF2-40B4-BE49-F238E27FC236}">
                <a16:creationId xmlns:a16="http://schemas.microsoft.com/office/drawing/2014/main" id="{9319A6FA-0490-4C94-8EC4-00BAADEA0271}"/>
              </a:ext>
            </a:extLst>
          </p:cNvPr>
          <p:cNvSpPr>
            <a:spLocks noGrp="1"/>
          </p:cNvSpPr>
          <p:nvPr/>
        </p:nvSpPr>
        <p:spPr>
          <a:xfrm>
            <a:off x="393668" y="344519"/>
            <a:ext cx="11404568" cy="644271"/>
          </a:xfrm>
          <a:prstGeom prst="rect">
            <a:avLst/>
          </a:prstGeom>
        </p:spPr>
        <p:txBody>
          <a:bodyPr wrap="square" lIns="0" tIns="0" rIns="0" bIns="0" anchor="t">
            <a:noAutofit/>
          </a:bodyPr>
          <a:lstStyle/>
          <a:p>
            <a:pPr algn="l">
              <a:lnSpc>
                <a:spcPct val="100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useful answer still needs human review</a:t>
            </a:r>
          </a:p>
        </p:txBody>
      </p:sp>
      <p:sp>
        <p:nvSpPr>
          <p:cNvPr id="3" name="Rounded-Rectangle-1-4">
            <a:extLst>
              <a:ext uri="{FF2B5EF4-FFF2-40B4-BE49-F238E27FC236}">
                <a16:creationId xmlns:a16="http://schemas.microsoft.com/office/drawing/2014/main" id="{D5F0D6FA-0520-4F5B-9500-80D6D93617A5}"/>
              </a:ext>
            </a:extLst>
          </p:cNvPr>
          <p:cNvSpPr>
            <a:spLocks noGrp="1"/>
          </p:cNvSpPr>
          <p:nvPr/>
        </p:nvSpPr>
        <p:spPr>
          <a:xfrm>
            <a:off x="397002" y="3339084"/>
            <a:ext cx="5533930" cy="1320832"/>
          </a:xfrm>
          <a:prstGeom prst="roundRect">
            <a:avLst>
              <a:gd name="adj" fmla="val 5769"/>
            </a:avLst>
          </a:prstGeom>
          <a:solidFill>
            <a:srgbClr val="F2F2F2"/>
          </a:solidFill>
        </p:spPr>
        <p:txBody>
          <a:bodyPr/>
          <a:lstStyle/>
          <a:p>
            <a:endParaRPr lang="en-CA"/>
          </a:p>
        </p:txBody>
      </p:sp>
      <p:sp>
        <p:nvSpPr>
          <p:cNvPr id="4" name="Content-Placeholder-10-5">
            <a:extLst>
              <a:ext uri="{FF2B5EF4-FFF2-40B4-BE49-F238E27FC236}">
                <a16:creationId xmlns:a16="http://schemas.microsoft.com/office/drawing/2014/main" id="{06149535-0021-421D-A5CE-41DADE8326B1}"/>
              </a:ext>
            </a:extLst>
          </p:cNvPr>
          <p:cNvSpPr>
            <a:spLocks noGrp="1"/>
          </p:cNvSpPr>
          <p:nvPr/>
        </p:nvSpPr>
        <p:spPr>
          <a:xfrm>
            <a:off x="694277" y="3587972"/>
            <a:ext cx="4986909" cy="87782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AI SUGGESTION
def average(nums):
  return sum(nums) / len(nums)</a:t>
            </a:r>
          </a:p>
        </p:txBody>
      </p:sp>
      <p:sp>
        <p:nvSpPr>
          <p:cNvPr id="5" name="Content-Placeholder-15-6">
            <a:extLst>
              <a:ext uri="{FF2B5EF4-FFF2-40B4-BE49-F238E27FC236}">
                <a16:creationId xmlns:a16="http://schemas.microsoft.com/office/drawing/2014/main" id="{51C4C623-DCEC-49CB-A98F-F1B6B8B2BE9B}"/>
              </a:ext>
            </a:extLst>
          </p:cNvPr>
          <p:cNvSpPr>
            <a:spLocks noGrp="1"/>
          </p:cNvSpPr>
          <p:nvPr/>
        </p:nvSpPr>
        <p:spPr>
          <a:xfrm>
            <a:off x="694277" y="4828604"/>
            <a:ext cx="5236655" cy="977932"/>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Fast starting point</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Clear explanation</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May miss edge cases</a:t>
            </a:r>
          </a:p>
        </p:txBody>
      </p:sp>
      <p:sp>
        <p:nvSpPr>
          <p:cNvPr id="6" name="Rounded-Rectangle-7-7">
            <a:extLst>
              <a:ext uri="{FF2B5EF4-FFF2-40B4-BE49-F238E27FC236}">
                <a16:creationId xmlns:a16="http://schemas.microsoft.com/office/drawing/2014/main" id="{114B1BDB-5BBB-4434-9EED-F4C0510EDBCA}"/>
              </a:ext>
            </a:extLst>
          </p:cNvPr>
          <p:cNvSpPr>
            <a:spLocks noGrp="1"/>
          </p:cNvSpPr>
          <p:nvPr/>
        </p:nvSpPr>
        <p:spPr>
          <a:xfrm>
            <a:off x="6260783" y="3339084"/>
            <a:ext cx="5533930" cy="1320832"/>
          </a:xfrm>
          <a:prstGeom prst="roundRect">
            <a:avLst>
              <a:gd name="adj" fmla="val 5769"/>
            </a:avLst>
          </a:prstGeom>
          <a:solidFill>
            <a:srgbClr val="F2F2F2"/>
          </a:solidFill>
        </p:spPr>
        <p:txBody>
          <a:bodyPr/>
          <a:lstStyle/>
          <a:p>
            <a:endParaRPr lang="en-CA"/>
          </a:p>
        </p:txBody>
      </p:sp>
      <p:sp>
        <p:nvSpPr>
          <p:cNvPr id="7" name="Content-Placeholder-10-8">
            <a:extLst>
              <a:ext uri="{FF2B5EF4-FFF2-40B4-BE49-F238E27FC236}">
                <a16:creationId xmlns:a16="http://schemas.microsoft.com/office/drawing/2014/main" id="{98F1AE36-7FE8-4BF6-BF11-6653FAF41819}"/>
              </a:ext>
            </a:extLst>
          </p:cNvPr>
          <p:cNvSpPr>
            <a:spLocks noGrp="1"/>
          </p:cNvSpPr>
          <p:nvPr/>
        </p:nvSpPr>
        <p:spPr>
          <a:xfrm>
            <a:off x="6558058" y="3587972"/>
            <a:ext cx="4986909" cy="87782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HUMAN CHECK
average([]) fails
Add an empty-list check</a:t>
            </a:r>
          </a:p>
        </p:txBody>
      </p:sp>
      <p:sp>
        <p:nvSpPr>
          <p:cNvPr id="8" name="Content-Placeholder-15-9">
            <a:extLst>
              <a:ext uri="{FF2B5EF4-FFF2-40B4-BE49-F238E27FC236}">
                <a16:creationId xmlns:a16="http://schemas.microsoft.com/office/drawing/2014/main" id="{2A1B2307-2AC0-4B8F-BF96-028D4F2E36C2}"/>
              </a:ext>
            </a:extLst>
          </p:cNvPr>
          <p:cNvSpPr>
            <a:spLocks noGrp="1"/>
          </p:cNvSpPr>
          <p:nvPr/>
        </p:nvSpPr>
        <p:spPr>
          <a:xfrm>
            <a:off x="6558058" y="4828604"/>
            <a:ext cx="5236655" cy="977932"/>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Run the code</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Check every result</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Explain the final logic</a:t>
            </a:r>
          </a:p>
        </p:txBody>
      </p:sp>
      <p:sp>
        <p:nvSpPr>
          <p:cNvPr id="9" name="Content-Placeholder-15-10">
            <a:extLst>
              <a:ext uri="{FF2B5EF4-FFF2-40B4-BE49-F238E27FC236}">
                <a16:creationId xmlns:a16="http://schemas.microsoft.com/office/drawing/2014/main" id="{28A64697-B854-45E6-A785-5EE53A765D8A}"/>
              </a:ext>
            </a:extLst>
          </p:cNvPr>
          <p:cNvSpPr>
            <a:spLocks noGrp="1"/>
          </p:cNvSpPr>
          <p:nvPr/>
        </p:nvSpPr>
        <p:spPr>
          <a:xfrm>
            <a:off x="400907" y="1157478"/>
            <a:ext cx="11404568" cy="1629251"/>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Example prompt</a:t>
            </a:r>
          </a:p>
          <a:p>
            <a:pPr algn="l">
              <a:lnSpc>
                <a:spcPct val="100000"/>
              </a:lnSpc>
              <a:buNone/>
              <a:defRPr sz="1600">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“Write a Python function that calculates an average.”</a:t>
            </a:r>
          </a:p>
          <a:p>
            <a:pPr algn="l">
              <a:lnSpc>
                <a:spcPct val="100000"/>
              </a:lnSpc>
              <a:buNone/>
              <a:defRPr sz="16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The agent can generate a quick solution—but the learner remains responsible for correctness.</a:t>
            </a:r>
          </a:p>
        </p:txBody>
      </p:sp>
      <p:sp>
        <p:nvSpPr>
          <p:cNvPr id="10" name="blue-accent">
            <a:extLst>
              <a:ext uri="{FF2B5EF4-FFF2-40B4-BE49-F238E27FC236}">
                <a16:creationId xmlns:a16="http://schemas.microsoft.com/office/drawing/2014/main" id="{3EF65BAB-4D8A-45C7-8B09-06E5357CCC4A}"/>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423575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Shape-532-p58-2">
            <a:extLst>
              <a:ext uri="{FF2B5EF4-FFF2-40B4-BE49-F238E27FC236}">
                <a16:creationId xmlns:a16="http://schemas.microsoft.com/office/drawing/2014/main" id="{DF96C20A-AA6E-4C91-B938-41C9F076A7FA}"/>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6</a:t>
            </a:r>
          </a:p>
        </p:txBody>
      </p:sp>
      <p:sp>
        <p:nvSpPr>
          <p:cNvPr id="2" name="Google-Shape-533-p58-3">
            <a:extLst>
              <a:ext uri="{FF2B5EF4-FFF2-40B4-BE49-F238E27FC236}">
                <a16:creationId xmlns:a16="http://schemas.microsoft.com/office/drawing/2014/main" id="{2748D1A5-085D-4AD4-804F-8797DF2FC9BA}"/>
              </a:ext>
            </a:extLst>
          </p:cNvPr>
          <p:cNvSpPr>
            <a:spLocks noGrp="1"/>
          </p:cNvSpPr>
          <p:nvPr/>
        </p:nvSpPr>
        <p:spPr>
          <a:xfrm>
            <a:off x="393668" y="344519"/>
            <a:ext cx="11404568" cy="644271"/>
          </a:xfrm>
          <a:prstGeom prst="rect">
            <a:avLst/>
          </a:prstGeom>
        </p:spPr>
        <p:txBody>
          <a:bodyPr wrap="square" lIns="0" tIns="0" rIns="0" bIns="0" anchor="t">
            <a:noAutofit/>
          </a:bodyPr>
          <a:lstStyle/>
          <a:p>
            <a:pPr algn="l">
              <a:lnSpc>
                <a:spcPct val="100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AI should support learning—not replace it</a:t>
            </a:r>
          </a:p>
        </p:txBody>
      </p:sp>
      <p:sp>
        <p:nvSpPr>
          <p:cNvPr id="3" name="Rounded-Rectangle-1-4">
            <a:extLst>
              <a:ext uri="{FF2B5EF4-FFF2-40B4-BE49-F238E27FC236}">
                <a16:creationId xmlns:a16="http://schemas.microsoft.com/office/drawing/2014/main" id="{31C0D6A3-B34C-46B9-86B6-17C8CA735337}"/>
              </a:ext>
            </a:extLst>
          </p:cNvPr>
          <p:cNvSpPr>
            <a:spLocks noGrp="1"/>
          </p:cNvSpPr>
          <p:nvPr/>
        </p:nvSpPr>
        <p:spPr>
          <a:xfrm>
            <a:off x="397002" y="3339084"/>
            <a:ext cx="5533930" cy="1320832"/>
          </a:xfrm>
          <a:prstGeom prst="roundRect">
            <a:avLst>
              <a:gd name="adj" fmla="val 5769"/>
            </a:avLst>
          </a:prstGeom>
          <a:solidFill>
            <a:srgbClr val="F2F2F2"/>
          </a:solidFill>
        </p:spPr>
        <p:txBody>
          <a:bodyPr/>
          <a:lstStyle/>
          <a:p>
            <a:endParaRPr lang="en-CA"/>
          </a:p>
        </p:txBody>
      </p:sp>
      <p:sp>
        <p:nvSpPr>
          <p:cNvPr id="4" name="Content-Placeholder-10-5">
            <a:extLst>
              <a:ext uri="{FF2B5EF4-FFF2-40B4-BE49-F238E27FC236}">
                <a16:creationId xmlns:a16="http://schemas.microsoft.com/office/drawing/2014/main" id="{9CDC7FF2-6DCA-4B46-8E69-21405AEA7F0F}"/>
              </a:ext>
            </a:extLst>
          </p:cNvPr>
          <p:cNvSpPr>
            <a:spLocks noGrp="1"/>
          </p:cNvSpPr>
          <p:nvPr/>
        </p:nvSpPr>
        <p:spPr>
          <a:xfrm>
            <a:off x="694277" y="3587972"/>
            <a:ext cx="4986909" cy="87782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WITH GUIDANCE
Explain · practise · test · reflect</a:t>
            </a:r>
          </a:p>
        </p:txBody>
      </p:sp>
      <p:sp>
        <p:nvSpPr>
          <p:cNvPr id="5" name="Content-Placeholder-15-6">
            <a:extLst>
              <a:ext uri="{FF2B5EF4-FFF2-40B4-BE49-F238E27FC236}">
                <a16:creationId xmlns:a16="http://schemas.microsoft.com/office/drawing/2014/main" id="{08104E0A-AAC1-412A-982D-DF9619969A6C}"/>
              </a:ext>
            </a:extLst>
          </p:cNvPr>
          <p:cNvSpPr>
            <a:spLocks noGrp="1"/>
          </p:cNvSpPr>
          <p:nvPr/>
        </p:nvSpPr>
        <p:spPr>
          <a:xfrm>
            <a:off x="694277" y="4828604"/>
            <a:ext cx="5236655" cy="977932"/>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Build understanding</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Keep human judgment</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Use AI as a tutor</a:t>
            </a:r>
          </a:p>
        </p:txBody>
      </p:sp>
      <p:sp>
        <p:nvSpPr>
          <p:cNvPr id="6" name="Rounded-Rectangle-7-7">
            <a:extLst>
              <a:ext uri="{FF2B5EF4-FFF2-40B4-BE49-F238E27FC236}">
                <a16:creationId xmlns:a16="http://schemas.microsoft.com/office/drawing/2014/main" id="{D2D8BB44-5290-45CA-90F1-47DB23F2B15F}"/>
              </a:ext>
            </a:extLst>
          </p:cNvPr>
          <p:cNvSpPr>
            <a:spLocks noGrp="1"/>
          </p:cNvSpPr>
          <p:nvPr/>
        </p:nvSpPr>
        <p:spPr>
          <a:xfrm>
            <a:off x="6260783" y="3339084"/>
            <a:ext cx="5533930" cy="1320832"/>
          </a:xfrm>
          <a:prstGeom prst="roundRect">
            <a:avLst>
              <a:gd name="adj" fmla="val 5769"/>
            </a:avLst>
          </a:prstGeom>
          <a:solidFill>
            <a:srgbClr val="F2F2F2"/>
          </a:solidFill>
        </p:spPr>
        <p:txBody>
          <a:bodyPr/>
          <a:lstStyle/>
          <a:p>
            <a:endParaRPr lang="en-CA"/>
          </a:p>
        </p:txBody>
      </p:sp>
      <p:sp>
        <p:nvSpPr>
          <p:cNvPr id="7" name="Content-Placeholder-10-8">
            <a:extLst>
              <a:ext uri="{FF2B5EF4-FFF2-40B4-BE49-F238E27FC236}">
                <a16:creationId xmlns:a16="http://schemas.microsoft.com/office/drawing/2014/main" id="{34D4C8AB-CAB0-45E6-BF7F-7704B1301279}"/>
              </a:ext>
            </a:extLst>
          </p:cNvPr>
          <p:cNvSpPr>
            <a:spLocks noGrp="1"/>
          </p:cNvSpPr>
          <p:nvPr/>
        </p:nvSpPr>
        <p:spPr>
          <a:xfrm>
            <a:off x="6558058" y="3587972"/>
            <a:ext cx="4986909" cy="877824"/>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WITHOUT GUIDANCE
Copy · submit · forget · depend</a:t>
            </a:r>
          </a:p>
        </p:txBody>
      </p:sp>
      <p:sp>
        <p:nvSpPr>
          <p:cNvPr id="8" name="Content-Placeholder-15-9">
            <a:extLst>
              <a:ext uri="{FF2B5EF4-FFF2-40B4-BE49-F238E27FC236}">
                <a16:creationId xmlns:a16="http://schemas.microsoft.com/office/drawing/2014/main" id="{D99DD1D9-88E8-4AAF-A43E-2F55FFAA3476}"/>
              </a:ext>
            </a:extLst>
          </p:cNvPr>
          <p:cNvSpPr>
            <a:spLocks noGrp="1"/>
          </p:cNvSpPr>
          <p:nvPr/>
        </p:nvSpPr>
        <p:spPr>
          <a:xfrm>
            <a:off x="6558058" y="4828604"/>
            <a:ext cx="5236655" cy="977932"/>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Surface-level success</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Weaker independence</a:t>
            </a:r>
          </a:p>
          <a:p>
            <a:pPr algn="l">
              <a:lnSpc>
                <a:spcPct val="100000"/>
              </a:lnSpc>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False confidence</a:t>
            </a:r>
          </a:p>
        </p:txBody>
      </p:sp>
      <p:sp>
        <p:nvSpPr>
          <p:cNvPr id="9" name="Content-Placeholder-15-10">
            <a:extLst>
              <a:ext uri="{FF2B5EF4-FFF2-40B4-BE49-F238E27FC236}">
                <a16:creationId xmlns:a16="http://schemas.microsoft.com/office/drawing/2014/main" id="{CA549D68-0C49-4977-87DE-0AA696DC07E5}"/>
              </a:ext>
            </a:extLst>
          </p:cNvPr>
          <p:cNvSpPr>
            <a:spLocks noGrp="1"/>
          </p:cNvSpPr>
          <p:nvPr/>
        </p:nvSpPr>
        <p:spPr>
          <a:xfrm>
            <a:off x="400907" y="1157478"/>
            <a:ext cx="11404568" cy="1629251"/>
          </a:xfrm>
          <a:prstGeom prst="rect">
            <a:avLst/>
          </a:prstGeom>
        </p:spPr>
        <p:txBody>
          <a:bodyPr lIns="0" tIns="0" rIns="0" bIns="0">
            <a:noAutofit/>
          </a:bodyPr>
          <a:lstStyle/>
          <a:p>
            <a:pPr algn="l">
              <a:lnSpc>
                <a:spcPct val="100000"/>
              </a:lnSpc>
              <a:buNone/>
              <a:defRPr sz="16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OECD Digital Education Outlook 2026</a:t>
            </a:r>
          </a:p>
          <a:p>
            <a:pPr algn="l">
              <a:lnSpc>
                <a:spcPct val="100000"/>
              </a:lnSpc>
              <a:buNone/>
              <a:defRPr sz="1600">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Generative AI can support learning when it follows clear teaching principles.</a:t>
            </a:r>
          </a:p>
          <a:p>
            <a:pPr algn="l">
              <a:lnSpc>
                <a:spcPct val="100000"/>
              </a:lnSpc>
              <a:buNone/>
              <a:defRPr sz="16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Better task performance does not always mean genuine learning.</a:t>
            </a:r>
          </a:p>
        </p:txBody>
      </p:sp>
      <p:sp>
        <p:nvSpPr>
          <p:cNvPr id="10" name="blue-accent">
            <a:extLst>
              <a:ext uri="{FF2B5EF4-FFF2-40B4-BE49-F238E27FC236}">
                <a16:creationId xmlns:a16="http://schemas.microsoft.com/office/drawing/2014/main" id="{57BBC12A-3DA2-4299-BBE8-2DF780CAEB75}"/>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357703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3-1">
            <a:extLst>
              <a:ext uri="{FF2B5EF4-FFF2-40B4-BE49-F238E27FC236}">
                <a16:creationId xmlns:a16="http://schemas.microsoft.com/office/drawing/2014/main" id="{FF6FFA1B-1436-462E-8E4D-ADA363A3CCCD}"/>
              </a:ext>
            </a:extLst>
          </p:cNvPr>
          <p:cNvSpPr>
            <a:spLocks noGrp="1"/>
          </p:cNvSpPr>
          <p:nvPr/>
        </p:nvSpPr>
        <p:spPr>
          <a:xfrm>
            <a:off x="393668" y="1738789"/>
            <a:ext cx="9448800" cy="2491454"/>
          </a:xfrm>
          <a:prstGeom prst="rect">
            <a:avLst/>
          </a:prstGeom>
        </p:spPr>
        <p:txBody>
          <a:bodyPr lIns="0" tIns="0" rIns="0" bIns="0" anchor="b">
            <a:noAutofit/>
          </a:bodyPr>
          <a:lstStyle/>
          <a:p>
            <a:pPr algn="l">
              <a:lnSpc>
                <a:spcPct val="100000"/>
              </a:lnSpc>
              <a:buNone/>
              <a:defRPr sz="6000">
                <a:solidFill>
                  <a:srgbClr val="000000"/>
                </a:solidFill>
                <a:latin typeface="Helvetica Neue"/>
                <a:ea typeface="Helvetica Neue"/>
                <a:cs typeface="Helvetica Neue"/>
              </a:defRPr>
            </a:pPr>
            <a:r>
              <a:rPr sz="3900" b="1">
                <a:solidFill>
                  <a:srgbClr val="000000"/>
                </a:solidFill>
                <a:latin typeface="Helvetica Neue"/>
                <a:ea typeface="Helvetica Neue"/>
                <a:cs typeface="Helvetica Neue"/>
              </a:rPr>
              <a:t>How should schools decide what level of AI coding assistance is acceptable?</a:t>
            </a:r>
          </a:p>
        </p:txBody>
      </p:sp>
      <p:sp>
        <p:nvSpPr>
          <p:cNvPr id="2" name="Subtitle-4-2">
            <a:extLst>
              <a:ext uri="{FF2B5EF4-FFF2-40B4-BE49-F238E27FC236}">
                <a16:creationId xmlns:a16="http://schemas.microsoft.com/office/drawing/2014/main" id="{E7721384-AFF8-46AD-A814-2A6DBF18E209}"/>
              </a:ext>
            </a:extLst>
          </p:cNvPr>
          <p:cNvSpPr>
            <a:spLocks noGrp="1"/>
          </p:cNvSpPr>
          <p:nvPr/>
        </p:nvSpPr>
        <p:spPr>
          <a:xfrm>
            <a:off x="393668" y="4973288"/>
            <a:ext cx="3568732" cy="1080230"/>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AI can accelerate progress.</a:t>
            </a:r>
          </a:p>
          <a:p>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Learning still requires effort.</a:t>
            </a:r>
          </a:p>
          <a:p>
            <a:pPr algn="l">
              <a:lnSpc>
                <a:spcPct val="100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Where should we draw the line?</a:t>
            </a:r>
          </a:p>
        </p:txBody>
      </p:sp>
      <p:sp>
        <p:nvSpPr>
          <p:cNvPr id="3" name="Subtitle-4-3">
            <a:extLst>
              <a:ext uri="{FF2B5EF4-FFF2-40B4-BE49-F238E27FC236}">
                <a16:creationId xmlns:a16="http://schemas.microsoft.com/office/drawing/2014/main" id="{A0BA710D-57D1-496F-925E-A5A7349303D8}"/>
              </a:ext>
            </a:extLst>
          </p:cNvPr>
          <p:cNvSpPr>
            <a:spLocks noGrp="1"/>
          </p:cNvSpPr>
          <p:nvPr/>
        </p:nvSpPr>
        <p:spPr>
          <a:xfrm>
            <a:off x="393668" y="392240"/>
            <a:ext cx="1612868" cy="649129"/>
          </a:xfrm>
          <a:prstGeom prst="rect">
            <a:avLst/>
          </a:prstGeom>
        </p:spPr>
        <p:txBody>
          <a:bodyPr lIns="0" tIns="0" rIns="0" bIns="0">
            <a:noAutofit/>
          </a:bodyPr>
          <a:lstStyle/>
          <a:p>
            <a:pPr algn="l">
              <a:lnSpc>
                <a:spcPct val="100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DISCUSSION</a:t>
            </a:r>
          </a:p>
        </p:txBody>
      </p:sp>
      <p:sp>
        <p:nvSpPr>
          <p:cNvPr id="4" name="blue-accent">
            <a:extLst>
              <a:ext uri="{FF2B5EF4-FFF2-40B4-BE49-F238E27FC236}">
                <a16:creationId xmlns:a16="http://schemas.microsoft.com/office/drawing/2014/main" id="{8ACEDAD4-8803-429B-AA63-678E9CAF32C9}"/>
              </a:ext>
            </a:extLst>
          </p:cNvPr>
          <p:cNvSpPr>
            <a:spLocks noGrp="1"/>
          </p:cNvSpPr>
          <p:nvPr/>
        </p:nvSpPr>
        <p:spPr>
          <a:xfrm>
            <a:off x="190500" y="342900"/>
            <a:ext cx="66675" cy="685800"/>
          </a:xfrm>
          <a:prstGeom prst="rect">
            <a:avLst/>
          </a:prstGeom>
          <a:solidFill>
            <a:srgbClr val="3D8DFF"/>
          </a:solidFill>
          <a:ln w="0">
            <a:solidFill>
              <a:srgbClr val="3D8DFF"/>
            </a:solidFill>
            <a:prstDash val="solid"/>
          </a:ln>
        </p:spPr>
        <p:txBody>
          <a:bodyPr/>
          <a:lstStyle/>
          <a:p>
            <a:endParaRPr lang="en-CA"/>
          </a:p>
        </p:txBody>
      </p:sp>
    </p:spTree>
    <p:extLst>
      <p:ext uri="{BB962C8B-B14F-4D97-AF65-F5344CB8AC3E}">
        <p14:creationId xmlns:p14="http://schemas.microsoft.com/office/powerpoint/2010/main" val="152768266"/>
      </p:ext>
    </p:extLst>
  </p:cSld>
  <p:clrMapOvr>
    <a:masterClrMapping/>
  </p:clrMapOvr>
</p:sld>
</file>

<file path=ppt/theme/theme1.xml><?xml version="1.0" encoding="utf-8"?>
<a:theme xmlns:a="http://schemas.openxmlformats.org/drawingml/2006/main" name="Orange Experien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725</Words>
  <Application>Microsoft Office PowerPoint</Application>
  <DocSecurity>0</DocSecurity>
  <PresentationFormat>Widescreen</PresentationFormat>
  <Paragraphs>86</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Helvetica Neue</vt:lpstr>
      <vt:lpstr>Arial</vt:lpstr>
      <vt:lpstr>Calibri</vt:lpstr>
      <vt:lpstr>Oswald SemiBold</vt:lpstr>
      <vt:lpstr>Univers Condensed Light</vt:lpstr>
      <vt:lpstr>Orange Experience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HeeJung Kim</cp:lastModifiedBy>
  <cp:revision>2</cp:revision>
  <dcterms:created xsi:type="dcterms:W3CDTF">2026-08-05T10:38:52Z</dcterms:created>
  <dcterms:modified xsi:type="dcterms:W3CDTF">2026-08-05T11:08:39Z</dcterms:modified>
</cp:coreProperties>
</file>