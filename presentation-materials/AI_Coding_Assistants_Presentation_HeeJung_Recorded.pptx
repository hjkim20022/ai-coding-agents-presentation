
<file path=[Content_Types].xml><?xml version="1.0" encoding="utf-8"?>
<Types xmlns="http://schemas.openxmlformats.org/package/2006/content-types">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74" d="100"/>
          <a:sy n="174" d="100"/>
        </p:scale>
        <p:origin x="138" y="7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04226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we're going to explore AI coding assistants and how they're changing the landscape of software development. We'll focus on GitHub Copilot as a key example and discuss both the exciting opportunities and important challenges these tools present.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Let's start with the basics. AI coding assistants are tools that help developers write code, explain code, debug errors, and improve productivity. These tools work by analyzing your code and suggesting relevant completions, much like autocomplete on your phone, but far more sophisticated. They can handle complex programming tasks and provide intelligent guidance.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current event in software development because AI tools are becoming more common in real programming jobs. GitHub Copilot is one popular example. It can suggest code, answer questions, and help developers understand projects faster. Companies are increasingly adopting these tools because they deliver measurable productivity gains. Developers who understand how to use these tools effectively will have a significant advantage in the job market.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coding assistants can help developers save time. They can also help beginners learn by explaining code and suggesting examples. These tools can support developers when writing tests, fixing errors, and understanding unfamiliar code. The combination of these benefits makes AI assistants valuable across all experience levels, from beginners to senior engineers.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However, there are also important challenges. AI can make mistakes, suggest insecure code, or give answers that developers do not fully understand. This is why developers still need to review, test, and understand the code before using it. Think of AI as a tool to enhance your coding, not to replace your judgment. Always validate what the AI suggests against your requirements and security standards.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AI coding assistants are changing software development. They can improve productivity, but developers must use them carefully and responsibly. The future isn't about AI replacing developers—it's about developers and AI working together to build better software faster. Those who master these tools will have a significant competitive advantage.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you think AI coding assistants like GitHub Copilot help developers become more productive, or do they make developers depend too much on AI? Why? This is an excellent discussion question. Encourage participants to share their perspectives. The reality is likely nuanced—these tools can absolutely boost productivity when used correctly, but they do require discipline and critical thinking to use responsibly.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457200" y="1371600"/>
            <a:ext cx="8229600" cy="1097280"/>
          </a:xfrm>
          <a:prstGeom prst="rect">
            <a:avLst/>
          </a:prstGeom>
          <a:noFill/>
          <a:ln/>
        </p:spPr>
        <p:txBody>
          <a:bodyPr wrap="square" rtlCol="0" anchor="ctr"/>
          <a:lstStyle/>
          <a:p>
            <a:pPr marL="0" indent="0" algn="ctr">
              <a:buNone/>
            </a:pPr>
            <a:r>
              <a:rPr lang="en-US" sz="5400" b="1" dirty="0">
                <a:solidFill>
                  <a:srgbClr val="FFFFFF"/>
                </a:solidFill>
                <a:latin typeface="Arial" pitchFamily="34" charset="0"/>
                <a:ea typeface="Arial" pitchFamily="34" charset="-122"/>
                <a:cs typeface="Arial" pitchFamily="34" charset="-120"/>
              </a:rPr>
              <a:t>AI Coding Assistants</a:t>
            </a:r>
            <a:endParaRPr lang="en-US" sz="5400" dirty="0"/>
          </a:p>
        </p:txBody>
      </p:sp>
      <p:sp>
        <p:nvSpPr>
          <p:cNvPr id="3" name="Text 1"/>
          <p:cNvSpPr/>
          <p:nvPr/>
        </p:nvSpPr>
        <p:spPr>
          <a:xfrm>
            <a:off x="457200" y="2560320"/>
            <a:ext cx="8229600" cy="731520"/>
          </a:xfrm>
          <a:prstGeom prst="rect">
            <a:avLst/>
          </a:prstGeom>
          <a:noFill/>
          <a:ln/>
        </p:spPr>
        <p:txBody>
          <a:bodyPr wrap="square" rtlCol="0" anchor="ctr"/>
          <a:lstStyle/>
          <a:p>
            <a:pPr marL="0" indent="0" algn="ctr">
              <a:buNone/>
            </a:pPr>
            <a:r>
              <a:rPr lang="en-US" sz="3600" dirty="0">
                <a:solidFill>
                  <a:srgbClr val="21D4DE"/>
                </a:solidFill>
                <a:latin typeface="Arial" pitchFamily="34" charset="0"/>
                <a:ea typeface="Arial" pitchFamily="34" charset="-122"/>
                <a:cs typeface="Arial" pitchFamily="34" charset="-120"/>
              </a:rPr>
              <a:t>and the Future of Software Development</a:t>
            </a:r>
            <a:endParaRPr lang="en-US" sz="3600" dirty="0"/>
          </a:p>
        </p:txBody>
      </p:sp>
      <p:sp>
        <p:nvSpPr>
          <p:cNvPr id="4" name="Shape 2"/>
          <p:cNvSpPr/>
          <p:nvPr/>
        </p:nvSpPr>
        <p:spPr>
          <a:xfrm>
            <a:off x="2286000" y="3657600"/>
            <a:ext cx="4572000" cy="73152"/>
          </a:xfrm>
          <a:prstGeom prst="rect">
            <a:avLst/>
          </a:prstGeom>
          <a:solidFill>
            <a:srgbClr val="21D4DE"/>
          </a:solidFill>
          <a:ln/>
        </p:spPr>
        <p:txBody>
          <a:bodyPr/>
          <a:lstStyle/>
          <a:p>
            <a:endParaRPr lang="en-CA"/>
          </a:p>
        </p:txBody>
      </p:sp>
      <p:sp>
        <p:nvSpPr>
          <p:cNvPr id="5" name="Text 3"/>
          <p:cNvSpPr/>
          <p:nvPr/>
        </p:nvSpPr>
        <p:spPr>
          <a:xfrm>
            <a:off x="457200" y="3931920"/>
            <a:ext cx="8229600" cy="548640"/>
          </a:xfrm>
          <a:prstGeom prst="rect">
            <a:avLst/>
          </a:prstGeom>
          <a:noFill/>
          <a:ln/>
        </p:spPr>
        <p:txBody>
          <a:bodyPr wrap="square" rtlCol="0" anchor="ctr"/>
          <a:lstStyle/>
          <a:p>
            <a:pPr marL="0" indent="0" algn="ctr">
              <a:buNone/>
            </a:pPr>
            <a:r>
              <a:rPr lang="en-US" sz="1800" i="1" dirty="0">
                <a:solidFill>
                  <a:srgbClr val="F2F2F2"/>
                </a:solidFill>
                <a:latin typeface="Arial" pitchFamily="34" charset="0"/>
                <a:ea typeface="Arial" pitchFamily="34" charset="-122"/>
                <a:cs typeface="Arial" pitchFamily="34" charset="-120"/>
              </a:rPr>
              <a:t>Exploring GitHub Copilot and Modern Development Tools</a:t>
            </a:r>
            <a:endParaRPr lang="en-US" sz="1800" dirty="0"/>
          </a:p>
        </p:txBody>
      </p:sp>
      <p:pic>
        <p:nvPicPr>
          <p:cNvPr id="14" name="Audio 13">
            <a:hlinkClick r:id="" action="ppaction://media"/>
            <a:extLst>
              <a:ext uri="{FF2B5EF4-FFF2-40B4-BE49-F238E27FC236}">
                <a16:creationId xmlns:a16="http://schemas.microsoft.com/office/drawing/2014/main" id="{80D68260-F453-E551-88F5-60AEEA6C9B54}"/>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139844" t="-139844" r="-139844" b="-139844"/>
          <a:stretch>
            <a:fillRect/>
          </a:stretch>
        </p:blipFill>
        <p:spPr>
          <a:xfrm>
            <a:off x="7539228" y="3538728"/>
            <a:ext cx="1543050" cy="154305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26743"/>
    </mc:Choice>
    <mc:Fallback>
      <p:transition spd="slow" advTm="2674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4"/>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C7293"/>
          </a:solidFill>
          <a:ln/>
        </p:spPr>
        <p:txBody>
          <a:bodyPr/>
          <a:lstStyle/>
          <a:p>
            <a:endParaRPr lang="en-CA"/>
          </a:p>
        </p:txBody>
      </p:sp>
      <p:sp>
        <p:nvSpPr>
          <p:cNvPr id="3" name="Text 1"/>
          <p:cNvSpPr/>
          <p:nvPr/>
        </p:nvSpPr>
        <p:spPr>
          <a:xfrm>
            <a:off x="457200" y="137160"/>
            <a:ext cx="8229600" cy="457200"/>
          </a:xfrm>
          <a:prstGeom prst="rect">
            <a:avLst/>
          </a:prstGeom>
          <a:noFill/>
          <a:ln/>
        </p:spPr>
        <p:txBody>
          <a:bodyPr wrap="square" rtlCol="0" anchor="ctr"/>
          <a:lstStyle/>
          <a:p>
            <a:pPr marL="0" indent="0">
              <a:buNone/>
            </a:pPr>
            <a:r>
              <a:rPr lang="en-US" sz="4000" b="1" dirty="0">
                <a:solidFill>
                  <a:srgbClr val="FFFFFF"/>
                </a:solidFill>
                <a:latin typeface="Arial" pitchFamily="34" charset="0"/>
                <a:ea typeface="Arial" pitchFamily="34" charset="-122"/>
                <a:cs typeface="Arial" pitchFamily="34" charset="-120"/>
              </a:rPr>
              <a:t>What Are AI Coding Assistants?</a:t>
            </a:r>
            <a:endParaRPr lang="en-US" sz="4000" dirty="0"/>
          </a:p>
        </p:txBody>
      </p:sp>
      <p:sp>
        <p:nvSpPr>
          <p:cNvPr id="4" name="Shape 2"/>
          <p:cNvSpPr/>
          <p:nvPr/>
        </p:nvSpPr>
        <p:spPr>
          <a:xfrm>
            <a:off x="457200" y="1097280"/>
            <a:ext cx="2011680" cy="1463040"/>
          </a:xfrm>
          <a:prstGeom prst="roundRect">
            <a:avLst>
              <a:gd name="adj" fmla="val 9375"/>
            </a:avLst>
          </a:prstGeom>
          <a:solidFill>
            <a:srgbClr val="F2F2F2"/>
          </a:solidFill>
          <a:ln/>
          <a:effectLst>
            <a:outerShdw blurRad="76200" dist="25400" dir="2700000" algn="bl" rotWithShape="0">
              <a:srgbClr val="000000">
                <a:alpha val="12000"/>
              </a:srgbClr>
            </a:outerShdw>
          </a:effectLst>
        </p:spPr>
        <p:txBody>
          <a:bodyPr/>
          <a:lstStyle/>
          <a:p>
            <a:endParaRPr lang="en-CA"/>
          </a:p>
        </p:txBody>
      </p:sp>
      <p:sp>
        <p:nvSpPr>
          <p:cNvPr id="5" name="Shape 3"/>
          <p:cNvSpPr/>
          <p:nvPr/>
        </p:nvSpPr>
        <p:spPr>
          <a:xfrm>
            <a:off x="457200" y="1097280"/>
            <a:ext cx="2011680" cy="274320"/>
          </a:xfrm>
          <a:prstGeom prst="rect">
            <a:avLst/>
          </a:prstGeom>
          <a:solidFill>
            <a:srgbClr val="21D4DE"/>
          </a:solidFill>
          <a:ln/>
        </p:spPr>
        <p:txBody>
          <a:bodyPr/>
          <a:lstStyle/>
          <a:p>
            <a:endParaRPr lang="en-CA"/>
          </a:p>
        </p:txBody>
      </p:sp>
      <p:sp>
        <p:nvSpPr>
          <p:cNvPr id="6" name="Text 4"/>
          <p:cNvSpPr/>
          <p:nvPr/>
        </p:nvSpPr>
        <p:spPr>
          <a:xfrm>
            <a:off x="548640" y="1143000"/>
            <a:ext cx="1828800" cy="22860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Write Code</a:t>
            </a:r>
            <a:endParaRPr lang="en-US" sz="1600" dirty="0"/>
          </a:p>
        </p:txBody>
      </p:sp>
      <p:sp>
        <p:nvSpPr>
          <p:cNvPr id="7" name="Text 5"/>
          <p:cNvSpPr/>
          <p:nvPr/>
        </p:nvSpPr>
        <p:spPr>
          <a:xfrm>
            <a:off x="548640" y="1463040"/>
            <a:ext cx="1828800" cy="868680"/>
          </a:xfrm>
          <a:prstGeom prst="rect">
            <a:avLst/>
          </a:prstGeom>
          <a:noFill/>
          <a:ln/>
        </p:spPr>
        <p:txBody>
          <a:bodyPr wrap="square" rtlCol="0" anchor="ctr"/>
          <a:lstStyle/>
          <a:p>
            <a:pPr marL="0" indent="0">
              <a:buNone/>
            </a:pPr>
            <a:r>
              <a:rPr lang="en-US" sz="1200" dirty="0">
                <a:solidFill>
                  <a:srgbClr val="2F3C7E"/>
                </a:solidFill>
                <a:latin typeface="Arial" pitchFamily="34" charset="0"/>
                <a:ea typeface="Arial" pitchFamily="34" charset="-122"/>
                <a:cs typeface="Arial" pitchFamily="34" charset="-120"/>
              </a:rPr>
              <a:t>Suggest code snippets and complete functions</a:t>
            </a:r>
            <a:endParaRPr lang="en-US" sz="1200" dirty="0"/>
          </a:p>
        </p:txBody>
      </p:sp>
      <p:sp>
        <p:nvSpPr>
          <p:cNvPr id="8" name="Shape 6"/>
          <p:cNvSpPr/>
          <p:nvPr/>
        </p:nvSpPr>
        <p:spPr>
          <a:xfrm>
            <a:off x="2606040" y="1097280"/>
            <a:ext cx="2011680" cy="1463040"/>
          </a:xfrm>
          <a:prstGeom prst="roundRect">
            <a:avLst>
              <a:gd name="adj" fmla="val 9375"/>
            </a:avLst>
          </a:prstGeom>
          <a:solidFill>
            <a:srgbClr val="F2F2F2"/>
          </a:solidFill>
          <a:ln/>
          <a:effectLst>
            <a:outerShdw blurRad="76200" dist="25400" dir="2700000" algn="bl" rotWithShape="0">
              <a:srgbClr val="000000">
                <a:alpha val="12000"/>
              </a:srgbClr>
            </a:outerShdw>
          </a:effectLst>
        </p:spPr>
        <p:txBody>
          <a:bodyPr/>
          <a:lstStyle/>
          <a:p>
            <a:endParaRPr lang="en-CA"/>
          </a:p>
        </p:txBody>
      </p:sp>
      <p:sp>
        <p:nvSpPr>
          <p:cNvPr id="9" name="Shape 7"/>
          <p:cNvSpPr/>
          <p:nvPr/>
        </p:nvSpPr>
        <p:spPr>
          <a:xfrm>
            <a:off x="2606040" y="1097280"/>
            <a:ext cx="2011680" cy="274320"/>
          </a:xfrm>
          <a:prstGeom prst="rect">
            <a:avLst/>
          </a:prstGeom>
          <a:solidFill>
            <a:srgbClr val="21D4DE"/>
          </a:solidFill>
          <a:ln/>
        </p:spPr>
        <p:txBody>
          <a:bodyPr/>
          <a:lstStyle/>
          <a:p>
            <a:endParaRPr lang="en-CA"/>
          </a:p>
        </p:txBody>
      </p:sp>
      <p:sp>
        <p:nvSpPr>
          <p:cNvPr id="10" name="Text 8"/>
          <p:cNvSpPr/>
          <p:nvPr/>
        </p:nvSpPr>
        <p:spPr>
          <a:xfrm>
            <a:off x="2697480" y="1143000"/>
            <a:ext cx="1828800" cy="22860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Explain Code</a:t>
            </a:r>
            <a:endParaRPr lang="en-US" sz="1600" dirty="0"/>
          </a:p>
        </p:txBody>
      </p:sp>
      <p:sp>
        <p:nvSpPr>
          <p:cNvPr id="11" name="Text 9"/>
          <p:cNvSpPr/>
          <p:nvPr/>
        </p:nvSpPr>
        <p:spPr>
          <a:xfrm>
            <a:off x="2697480" y="1463040"/>
            <a:ext cx="1828800" cy="868680"/>
          </a:xfrm>
          <a:prstGeom prst="rect">
            <a:avLst/>
          </a:prstGeom>
          <a:noFill/>
          <a:ln/>
        </p:spPr>
        <p:txBody>
          <a:bodyPr wrap="square" rtlCol="0" anchor="ctr"/>
          <a:lstStyle/>
          <a:p>
            <a:pPr marL="0" indent="0">
              <a:buNone/>
            </a:pPr>
            <a:r>
              <a:rPr lang="en-US" sz="1200" dirty="0">
                <a:solidFill>
                  <a:srgbClr val="2F3C7E"/>
                </a:solidFill>
                <a:latin typeface="Arial" pitchFamily="34" charset="0"/>
                <a:ea typeface="Arial" pitchFamily="34" charset="-122"/>
                <a:cs typeface="Arial" pitchFamily="34" charset="-120"/>
              </a:rPr>
              <a:t>Clarify complex code and concepts</a:t>
            </a:r>
            <a:endParaRPr lang="en-US" sz="1200" dirty="0"/>
          </a:p>
        </p:txBody>
      </p:sp>
      <p:sp>
        <p:nvSpPr>
          <p:cNvPr id="12" name="Shape 10"/>
          <p:cNvSpPr/>
          <p:nvPr/>
        </p:nvSpPr>
        <p:spPr>
          <a:xfrm>
            <a:off x="4754880" y="1097280"/>
            <a:ext cx="2011680" cy="1463040"/>
          </a:xfrm>
          <a:prstGeom prst="roundRect">
            <a:avLst>
              <a:gd name="adj" fmla="val 9375"/>
            </a:avLst>
          </a:prstGeom>
          <a:solidFill>
            <a:srgbClr val="F2F2F2"/>
          </a:solidFill>
          <a:ln/>
          <a:effectLst>
            <a:outerShdw blurRad="76200" dist="25400" dir="2700000" algn="bl" rotWithShape="0">
              <a:srgbClr val="000000">
                <a:alpha val="12000"/>
              </a:srgbClr>
            </a:outerShdw>
          </a:effectLst>
        </p:spPr>
        <p:txBody>
          <a:bodyPr/>
          <a:lstStyle/>
          <a:p>
            <a:endParaRPr lang="en-CA"/>
          </a:p>
        </p:txBody>
      </p:sp>
      <p:sp>
        <p:nvSpPr>
          <p:cNvPr id="13" name="Shape 11"/>
          <p:cNvSpPr/>
          <p:nvPr/>
        </p:nvSpPr>
        <p:spPr>
          <a:xfrm>
            <a:off x="4754880" y="1097280"/>
            <a:ext cx="2011680" cy="274320"/>
          </a:xfrm>
          <a:prstGeom prst="rect">
            <a:avLst/>
          </a:prstGeom>
          <a:solidFill>
            <a:srgbClr val="21D4DE"/>
          </a:solidFill>
          <a:ln/>
        </p:spPr>
        <p:txBody>
          <a:bodyPr/>
          <a:lstStyle/>
          <a:p>
            <a:endParaRPr lang="en-CA"/>
          </a:p>
        </p:txBody>
      </p:sp>
      <p:sp>
        <p:nvSpPr>
          <p:cNvPr id="14" name="Text 12"/>
          <p:cNvSpPr/>
          <p:nvPr/>
        </p:nvSpPr>
        <p:spPr>
          <a:xfrm>
            <a:off x="4846320" y="1143000"/>
            <a:ext cx="1828800" cy="22860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Debug &amp; Improve</a:t>
            </a:r>
            <a:endParaRPr lang="en-US" sz="1600" dirty="0"/>
          </a:p>
        </p:txBody>
      </p:sp>
      <p:sp>
        <p:nvSpPr>
          <p:cNvPr id="15" name="Text 13"/>
          <p:cNvSpPr/>
          <p:nvPr/>
        </p:nvSpPr>
        <p:spPr>
          <a:xfrm>
            <a:off x="4846320" y="1463040"/>
            <a:ext cx="1828800" cy="868680"/>
          </a:xfrm>
          <a:prstGeom prst="rect">
            <a:avLst/>
          </a:prstGeom>
          <a:noFill/>
          <a:ln/>
        </p:spPr>
        <p:txBody>
          <a:bodyPr wrap="square" rtlCol="0" anchor="ctr"/>
          <a:lstStyle/>
          <a:p>
            <a:pPr marL="0" indent="0">
              <a:buNone/>
            </a:pPr>
            <a:r>
              <a:rPr lang="en-US" sz="1200" dirty="0">
                <a:solidFill>
                  <a:srgbClr val="2F3C7E"/>
                </a:solidFill>
                <a:latin typeface="Arial" pitchFamily="34" charset="0"/>
                <a:ea typeface="Arial" pitchFamily="34" charset="-122"/>
                <a:cs typeface="Arial" pitchFamily="34" charset="-120"/>
              </a:rPr>
              <a:t>Find errors and optimize performance</a:t>
            </a:r>
            <a:endParaRPr lang="en-US" sz="1200" dirty="0"/>
          </a:p>
        </p:txBody>
      </p:sp>
      <p:sp>
        <p:nvSpPr>
          <p:cNvPr id="16" name="Shape 14"/>
          <p:cNvSpPr/>
          <p:nvPr/>
        </p:nvSpPr>
        <p:spPr>
          <a:xfrm>
            <a:off x="6903720" y="1097280"/>
            <a:ext cx="2011680" cy="1463040"/>
          </a:xfrm>
          <a:prstGeom prst="roundRect">
            <a:avLst>
              <a:gd name="adj" fmla="val 9375"/>
            </a:avLst>
          </a:prstGeom>
          <a:solidFill>
            <a:srgbClr val="F2F2F2"/>
          </a:solidFill>
          <a:ln/>
          <a:effectLst>
            <a:outerShdw blurRad="76200" dist="25400" dir="2700000" algn="bl" rotWithShape="0">
              <a:srgbClr val="000000">
                <a:alpha val="12000"/>
              </a:srgbClr>
            </a:outerShdw>
          </a:effectLst>
        </p:spPr>
        <p:txBody>
          <a:bodyPr/>
          <a:lstStyle/>
          <a:p>
            <a:endParaRPr lang="en-CA"/>
          </a:p>
        </p:txBody>
      </p:sp>
      <p:sp>
        <p:nvSpPr>
          <p:cNvPr id="17" name="Shape 15"/>
          <p:cNvSpPr/>
          <p:nvPr/>
        </p:nvSpPr>
        <p:spPr>
          <a:xfrm>
            <a:off x="6903720" y="1097280"/>
            <a:ext cx="2011680" cy="274320"/>
          </a:xfrm>
          <a:prstGeom prst="rect">
            <a:avLst/>
          </a:prstGeom>
          <a:solidFill>
            <a:srgbClr val="21D4DE"/>
          </a:solidFill>
          <a:ln/>
        </p:spPr>
        <p:txBody>
          <a:bodyPr/>
          <a:lstStyle/>
          <a:p>
            <a:endParaRPr lang="en-CA"/>
          </a:p>
        </p:txBody>
      </p:sp>
      <p:sp>
        <p:nvSpPr>
          <p:cNvPr id="18" name="Text 16"/>
          <p:cNvSpPr/>
          <p:nvPr/>
        </p:nvSpPr>
        <p:spPr>
          <a:xfrm>
            <a:off x="6995160" y="1143000"/>
            <a:ext cx="1828800" cy="22860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Boost Productivity</a:t>
            </a:r>
            <a:endParaRPr lang="en-US" sz="1600" dirty="0"/>
          </a:p>
        </p:txBody>
      </p:sp>
      <p:sp>
        <p:nvSpPr>
          <p:cNvPr id="19" name="Text 17"/>
          <p:cNvSpPr/>
          <p:nvPr/>
        </p:nvSpPr>
        <p:spPr>
          <a:xfrm>
            <a:off x="6995160" y="1463040"/>
            <a:ext cx="1828800" cy="868680"/>
          </a:xfrm>
          <a:prstGeom prst="rect">
            <a:avLst/>
          </a:prstGeom>
          <a:noFill/>
          <a:ln/>
        </p:spPr>
        <p:txBody>
          <a:bodyPr wrap="square" rtlCol="0" anchor="ctr"/>
          <a:lstStyle/>
          <a:p>
            <a:pPr marL="0" indent="0">
              <a:buNone/>
            </a:pPr>
            <a:r>
              <a:rPr lang="en-US" sz="1200" dirty="0">
                <a:solidFill>
                  <a:srgbClr val="2F3C7E"/>
                </a:solidFill>
                <a:latin typeface="Arial" pitchFamily="34" charset="0"/>
                <a:ea typeface="Arial" pitchFamily="34" charset="-122"/>
                <a:cs typeface="Arial" pitchFamily="34" charset="-120"/>
              </a:rPr>
              <a:t>Work faster and more efficiently</a:t>
            </a:r>
            <a:endParaRPr lang="en-US" sz="1200" dirty="0"/>
          </a:p>
        </p:txBody>
      </p:sp>
      <p:sp>
        <p:nvSpPr>
          <p:cNvPr id="20" name="Text 18"/>
          <p:cNvSpPr/>
          <p:nvPr/>
        </p:nvSpPr>
        <p:spPr>
          <a:xfrm>
            <a:off x="457200" y="3931920"/>
            <a:ext cx="8229600" cy="731520"/>
          </a:xfrm>
          <a:prstGeom prst="rect">
            <a:avLst/>
          </a:prstGeom>
          <a:noFill/>
          <a:ln/>
        </p:spPr>
        <p:txBody>
          <a:bodyPr wrap="square" rtlCol="0" anchor="ctr"/>
          <a:lstStyle/>
          <a:p>
            <a:pPr marL="0" indent="0" algn="l">
              <a:buNone/>
            </a:pPr>
            <a:r>
              <a:rPr lang="en-US" sz="1400" dirty="0">
                <a:solidFill>
                  <a:srgbClr val="2F3C7E"/>
                </a:solidFill>
                <a:latin typeface="Arial" pitchFamily="34" charset="0"/>
                <a:ea typeface="Arial" pitchFamily="34" charset="-122"/>
                <a:cs typeface="Arial" pitchFamily="34" charset="-120"/>
              </a:rPr>
              <a:t>AI coding assistants are intelligent tools that integrate directly into your development environment, using machine learning to understand code context and provide relevant suggestions.</a:t>
            </a:r>
            <a:endParaRPr lang="en-US" sz="1400" dirty="0"/>
          </a:p>
        </p:txBody>
      </p:sp>
      <p:pic>
        <p:nvPicPr>
          <p:cNvPr id="31" name="Audio 30">
            <a:hlinkClick r:id="" action="ppaction://media"/>
            <a:extLst>
              <a:ext uri="{FF2B5EF4-FFF2-40B4-BE49-F238E27FC236}">
                <a16:creationId xmlns:a16="http://schemas.microsoft.com/office/drawing/2014/main" id="{E22D8257-6186-E4C2-048A-DB43687F5A46}"/>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139844" t="-139844" r="-139844" b="-139844"/>
          <a:stretch>
            <a:fillRect/>
          </a:stretch>
        </p:blipFill>
        <p:spPr>
          <a:xfrm>
            <a:off x="7539228" y="3538728"/>
            <a:ext cx="1543050" cy="154305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38412"/>
    </mc:Choice>
    <mc:Fallback>
      <p:transition spd="slow" advTm="3841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1"/>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2F3C7E"/>
          </a:solidFill>
          <a:ln/>
        </p:spPr>
        <p:txBody>
          <a:bodyPr/>
          <a:lstStyle/>
          <a:p>
            <a:endParaRPr lang="en-CA"/>
          </a:p>
        </p:txBody>
      </p:sp>
      <p:sp>
        <p:nvSpPr>
          <p:cNvPr id="3" name="Text 1"/>
          <p:cNvSpPr/>
          <p:nvPr/>
        </p:nvSpPr>
        <p:spPr>
          <a:xfrm>
            <a:off x="457200" y="137160"/>
            <a:ext cx="8229600" cy="457200"/>
          </a:xfrm>
          <a:prstGeom prst="rect">
            <a:avLst/>
          </a:prstGeom>
          <a:noFill/>
          <a:ln/>
        </p:spPr>
        <p:txBody>
          <a:bodyPr wrap="square" rtlCol="0" anchor="ctr"/>
          <a:lstStyle/>
          <a:p>
            <a:pPr marL="0" indent="0">
              <a:buNone/>
            </a:pPr>
            <a:r>
              <a:rPr lang="en-US" sz="4000" b="1" dirty="0">
                <a:solidFill>
                  <a:srgbClr val="FFFFFF"/>
                </a:solidFill>
                <a:latin typeface="Arial" pitchFamily="34" charset="0"/>
                <a:ea typeface="Arial" pitchFamily="34" charset="-122"/>
                <a:cs typeface="Arial" pitchFamily="34" charset="-120"/>
              </a:rPr>
              <a:t>Why This Matters Now</a:t>
            </a:r>
            <a:endParaRPr lang="en-US" sz="4000" dirty="0"/>
          </a:p>
        </p:txBody>
      </p:sp>
      <p:sp>
        <p:nvSpPr>
          <p:cNvPr id="4" name="Shape 2"/>
          <p:cNvSpPr/>
          <p:nvPr/>
        </p:nvSpPr>
        <p:spPr>
          <a:xfrm>
            <a:off x="457200" y="1097280"/>
            <a:ext cx="3657600" cy="3474720"/>
          </a:xfrm>
          <a:prstGeom prst="roundRect">
            <a:avLst>
              <a:gd name="adj" fmla="val 3947"/>
            </a:avLst>
          </a:prstGeom>
          <a:solidFill>
            <a:srgbClr val="F2F2F2"/>
          </a:solidFill>
          <a:ln/>
          <a:effectLst>
            <a:outerShdw blurRad="76200" dist="25400" dir="2700000" algn="bl" rotWithShape="0">
              <a:srgbClr val="000000">
                <a:alpha val="12000"/>
              </a:srgbClr>
            </a:outerShdw>
          </a:effectLst>
        </p:spPr>
        <p:txBody>
          <a:bodyPr/>
          <a:lstStyle/>
          <a:p>
            <a:endParaRPr lang="en-CA"/>
          </a:p>
        </p:txBody>
      </p:sp>
      <p:sp>
        <p:nvSpPr>
          <p:cNvPr id="5" name="Shape 3"/>
          <p:cNvSpPr/>
          <p:nvPr/>
        </p:nvSpPr>
        <p:spPr>
          <a:xfrm>
            <a:off x="1371600" y="1645920"/>
            <a:ext cx="1828800" cy="1828800"/>
          </a:xfrm>
          <a:prstGeom prst="ellipse">
            <a:avLst/>
          </a:prstGeom>
          <a:solidFill>
            <a:srgbClr val="21D4DE"/>
          </a:solidFill>
          <a:ln/>
        </p:spPr>
        <p:txBody>
          <a:bodyPr/>
          <a:lstStyle/>
          <a:p>
            <a:endParaRPr lang="en-CA"/>
          </a:p>
        </p:txBody>
      </p:sp>
      <p:sp>
        <p:nvSpPr>
          <p:cNvPr id="6" name="Text 4"/>
          <p:cNvSpPr/>
          <p:nvPr/>
        </p:nvSpPr>
        <p:spPr>
          <a:xfrm>
            <a:off x="1371600" y="2926080"/>
            <a:ext cx="1828800" cy="457200"/>
          </a:xfrm>
          <a:prstGeom prst="rect">
            <a:avLst/>
          </a:prstGeom>
          <a:noFill/>
          <a:ln/>
        </p:spPr>
        <p:txBody>
          <a:bodyPr wrap="square" rtlCol="0" anchor="ctr"/>
          <a:lstStyle/>
          <a:p>
            <a:pPr marL="0" indent="0" algn="ctr">
              <a:buNone/>
            </a:pPr>
            <a:r>
              <a:rPr lang="en-US" sz="2000" b="1" dirty="0">
                <a:solidFill>
                  <a:srgbClr val="2F3C7E"/>
                </a:solidFill>
                <a:latin typeface="Arial" pitchFamily="34" charset="0"/>
                <a:ea typeface="Arial" pitchFamily="34" charset="-122"/>
                <a:cs typeface="Arial" pitchFamily="34" charset="-120"/>
              </a:rPr>
              <a:t>AI Tools</a:t>
            </a:r>
            <a:endParaRPr lang="en-US" sz="2000" dirty="0"/>
          </a:p>
        </p:txBody>
      </p:sp>
      <p:sp>
        <p:nvSpPr>
          <p:cNvPr id="7" name="Text 5"/>
          <p:cNvSpPr/>
          <p:nvPr/>
        </p:nvSpPr>
        <p:spPr>
          <a:xfrm>
            <a:off x="640080" y="3520440"/>
            <a:ext cx="3291840" cy="731520"/>
          </a:xfrm>
          <a:prstGeom prst="rect">
            <a:avLst/>
          </a:prstGeom>
          <a:noFill/>
          <a:ln/>
        </p:spPr>
        <p:txBody>
          <a:bodyPr wrap="square" rtlCol="0" anchor="ctr"/>
          <a:lstStyle/>
          <a:p>
            <a:pPr marL="0" indent="0" algn="ctr">
              <a:buNone/>
            </a:pPr>
            <a:r>
              <a:rPr lang="en-US" sz="1400" dirty="0">
                <a:solidFill>
                  <a:srgbClr val="2F3C7E"/>
                </a:solidFill>
                <a:latin typeface="Arial" pitchFamily="34" charset="0"/>
                <a:ea typeface="Arial" pitchFamily="34" charset="-122"/>
                <a:cs typeface="Arial" pitchFamily="34" charset="-120"/>
              </a:rPr>
              <a:t>Are Becoming Essential</a:t>
            </a:r>
            <a:endParaRPr lang="en-US" sz="1400" dirty="0"/>
          </a:p>
        </p:txBody>
      </p:sp>
      <p:sp>
        <p:nvSpPr>
          <p:cNvPr id="8" name="Text 6"/>
          <p:cNvSpPr/>
          <p:nvPr/>
        </p:nvSpPr>
        <p:spPr>
          <a:xfrm>
            <a:off x="4572000" y="1188720"/>
            <a:ext cx="4114800" cy="3474720"/>
          </a:xfrm>
          <a:prstGeom prst="rect">
            <a:avLst/>
          </a:prstGeom>
          <a:noFill/>
          <a:ln/>
        </p:spPr>
        <p:txBody>
          <a:bodyPr wrap="square" rtlCol="0" anchor="ctr"/>
          <a:lstStyle/>
          <a:p>
            <a:pPr marL="0" indent="0">
              <a:buNone/>
            </a:pPr>
            <a:r>
              <a:rPr lang="en-US" sz="1600" b="1" dirty="0">
                <a:solidFill>
                  <a:srgbClr val="2F3C7E"/>
                </a:solidFill>
                <a:latin typeface="Arial" pitchFamily="34" charset="0"/>
                <a:ea typeface="Arial" pitchFamily="34" charset="-122"/>
                <a:cs typeface="Arial" pitchFamily="34" charset="-120"/>
              </a:rPr>
              <a:t>Widespread Adoption
</a:t>
            </a:r>
            <a:endParaRPr lang="en-US" sz="1600" dirty="0"/>
          </a:p>
          <a:p>
            <a:pPr marL="0" indent="0">
              <a:buNone/>
            </a:pPr>
            <a:r>
              <a:rPr lang="en-US" sz="1300" dirty="0">
                <a:solidFill>
                  <a:srgbClr val="2F3C7E"/>
                </a:solidFill>
                <a:latin typeface="Arial" pitchFamily="34" charset="0"/>
                <a:ea typeface="Arial" pitchFamily="34" charset="-122"/>
                <a:cs typeface="Arial" pitchFamily="34" charset="-120"/>
              </a:rPr>
              <a:t>AI tools are becoming more common in real programming jobs. Developers who know how to use them effectively gain a competitive advantage.
</a:t>
            </a:r>
            <a:endParaRPr lang="en-US" sz="1600" dirty="0"/>
          </a:p>
          <a:p>
            <a:pPr marL="0" indent="0">
              <a:buNone/>
            </a:pPr>
            <a:r>
              <a:rPr lang="en-US" sz="1600" b="1" dirty="0">
                <a:solidFill>
                  <a:srgbClr val="2F3C7E"/>
                </a:solidFill>
                <a:latin typeface="Arial" pitchFamily="34" charset="0"/>
                <a:ea typeface="Arial" pitchFamily="34" charset="-122"/>
                <a:cs typeface="Arial" pitchFamily="34" charset="-120"/>
              </a:rPr>
              <a:t>GitHub Copilot is Leading
</a:t>
            </a:r>
            <a:endParaRPr lang="en-US" sz="1600" dirty="0"/>
          </a:p>
          <a:p>
            <a:pPr marL="0" indent="0">
              <a:buNone/>
            </a:pPr>
            <a:r>
              <a:rPr lang="en-US" sz="1300" dirty="0">
                <a:solidFill>
                  <a:srgbClr val="2F3C7E"/>
                </a:solidFill>
                <a:latin typeface="Arial" pitchFamily="34" charset="0"/>
                <a:ea typeface="Arial" pitchFamily="34" charset="-122"/>
                <a:cs typeface="Arial" pitchFamily="34" charset="-120"/>
              </a:rPr>
              <a:t>One of the most popular examples. It can suggest code, answer questions, and help developers understand projects faster.
</a:t>
            </a:r>
            <a:endParaRPr lang="en-US" sz="1600" dirty="0"/>
          </a:p>
          <a:p>
            <a:pPr marL="0" indent="0">
              <a:buNone/>
            </a:pPr>
            <a:r>
              <a:rPr lang="en-US" sz="1600" b="1" dirty="0">
                <a:solidFill>
                  <a:srgbClr val="2F3C7E"/>
                </a:solidFill>
                <a:latin typeface="Arial" pitchFamily="34" charset="0"/>
                <a:ea typeface="Arial" pitchFamily="34" charset="-122"/>
                <a:cs typeface="Arial" pitchFamily="34" charset="-120"/>
              </a:rPr>
              <a:t>Changing Development Practices
</a:t>
            </a:r>
            <a:endParaRPr lang="en-US" sz="1600" dirty="0"/>
          </a:p>
          <a:p>
            <a:pPr marL="0" indent="0">
              <a:buNone/>
            </a:pPr>
            <a:r>
              <a:rPr lang="en-US" sz="1300" dirty="0">
                <a:solidFill>
                  <a:srgbClr val="2F3C7E"/>
                </a:solidFill>
                <a:latin typeface="Arial" pitchFamily="34" charset="0"/>
                <a:ea typeface="Arial" pitchFamily="34" charset="-122"/>
                <a:cs typeface="Arial" pitchFamily="34" charset="-120"/>
              </a:rPr>
              <a:t>AI coding assistants are fundamentally changing how developers work and think about code.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C7293"/>
          </a:solidFill>
          <a:ln/>
        </p:spPr>
        <p:txBody>
          <a:bodyPr/>
          <a:lstStyle/>
          <a:p>
            <a:endParaRPr lang="en-CA"/>
          </a:p>
        </p:txBody>
      </p:sp>
      <p:sp>
        <p:nvSpPr>
          <p:cNvPr id="3" name="Text 1"/>
          <p:cNvSpPr/>
          <p:nvPr/>
        </p:nvSpPr>
        <p:spPr>
          <a:xfrm>
            <a:off x="457200" y="137160"/>
            <a:ext cx="8229600" cy="457200"/>
          </a:xfrm>
          <a:prstGeom prst="rect">
            <a:avLst/>
          </a:prstGeom>
          <a:noFill/>
          <a:ln/>
        </p:spPr>
        <p:txBody>
          <a:bodyPr wrap="square" rtlCol="0" anchor="ctr"/>
          <a:lstStyle/>
          <a:p>
            <a:pPr marL="0" indent="0">
              <a:buNone/>
            </a:pPr>
            <a:r>
              <a:rPr lang="en-US" sz="4000" b="1" dirty="0">
                <a:solidFill>
                  <a:srgbClr val="FFFFFF"/>
                </a:solidFill>
                <a:latin typeface="Arial" pitchFamily="34" charset="0"/>
                <a:ea typeface="Arial" pitchFamily="34" charset="-122"/>
                <a:cs typeface="Arial" pitchFamily="34" charset="-120"/>
              </a:rPr>
              <a:t>Key Benefits</a:t>
            </a:r>
            <a:endParaRPr lang="en-US" sz="4000" dirty="0"/>
          </a:p>
        </p:txBody>
      </p:sp>
      <p:sp>
        <p:nvSpPr>
          <p:cNvPr id="4" name="Shape 2"/>
          <p:cNvSpPr/>
          <p:nvPr/>
        </p:nvSpPr>
        <p:spPr>
          <a:xfrm>
            <a:off x="457200" y="1097280"/>
            <a:ext cx="2606040" cy="3474720"/>
          </a:xfrm>
          <a:prstGeom prst="roundRect">
            <a:avLst>
              <a:gd name="adj" fmla="val 5263"/>
            </a:avLst>
          </a:prstGeom>
          <a:solidFill>
            <a:srgbClr val="F2F2F2"/>
          </a:solidFill>
          <a:ln/>
          <a:effectLst>
            <a:outerShdw blurRad="76200" dist="25400" dir="2700000" algn="bl" rotWithShape="0">
              <a:srgbClr val="000000">
                <a:alpha val="12000"/>
              </a:srgbClr>
            </a:outerShdw>
          </a:effectLst>
        </p:spPr>
        <p:txBody>
          <a:bodyPr/>
          <a:lstStyle/>
          <a:p>
            <a:endParaRPr lang="en-CA"/>
          </a:p>
        </p:txBody>
      </p:sp>
      <p:sp>
        <p:nvSpPr>
          <p:cNvPr id="5" name="Shape 3"/>
          <p:cNvSpPr/>
          <p:nvPr/>
        </p:nvSpPr>
        <p:spPr>
          <a:xfrm>
            <a:off x="777240" y="1371600"/>
            <a:ext cx="1965960" cy="731520"/>
          </a:xfrm>
          <a:prstGeom prst="ellipse">
            <a:avLst/>
          </a:prstGeom>
          <a:solidFill>
            <a:srgbClr val="FF6B35"/>
          </a:solidFill>
          <a:ln/>
        </p:spPr>
        <p:txBody>
          <a:bodyPr/>
          <a:lstStyle/>
          <a:p>
            <a:endParaRPr lang="en-CA"/>
          </a:p>
        </p:txBody>
      </p:sp>
      <p:sp>
        <p:nvSpPr>
          <p:cNvPr id="6" name="Text 4"/>
          <p:cNvSpPr/>
          <p:nvPr/>
        </p:nvSpPr>
        <p:spPr>
          <a:xfrm>
            <a:off x="777240" y="1371600"/>
            <a:ext cx="1965960" cy="731520"/>
          </a:xfrm>
          <a:prstGeom prst="rect">
            <a:avLst/>
          </a:prstGeom>
          <a:noFill/>
          <a:ln/>
        </p:spPr>
        <p:txBody>
          <a:bodyPr wrap="square" rtlCol="0" anchor="ctr"/>
          <a:lstStyle/>
          <a:p>
            <a:pPr marL="0" indent="0" algn="ctr">
              <a:buNone/>
            </a:pPr>
            <a:r>
              <a:rPr lang="en-US" sz="4800" dirty="0">
                <a:solidFill>
                  <a:srgbClr val="000000"/>
                </a:solidFill>
              </a:rPr>
              <a:t>⚡</a:t>
            </a:r>
            <a:endParaRPr lang="en-US" sz="4800" dirty="0"/>
          </a:p>
        </p:txBody>
      </p:sp>
      <p:sp>
        <p:nvSpPr>
          <p:cNvPr id="7" name="Text 5"/>
          <p:cNvSpPr/>
          <p:nvPr/>
        </p:nvSpPr>
        <p:spPr>
          <a:xfrm>
            <a:off x="548640" y="2240280"/>
            <a:ext cx="2423160" cy="548640"/>
          </a:xfrm>
          <a:prstGeom prst="rect">
            <a:avLst/>
          </a:prstGeom>
          <a:noFill/>
          <a:ln/>
        </p:spPr>
        <p:txBody>
          <a:bodyPr wrap="square" rtlCol="0" anchor="ctr"/>
          <a:lstStyle/>
          <a:p>
            <a:pPr marL="0" indent="0" algn="ctr">
              <a:buNone/>
            </a:pPr>
            <a:r>
              <a:rPr lang="en-US" sz="1800" b="1" dirty="0">
                <a:solidFill>
                  <a:srgbClr val="2F3C7E"/>
                </a:solidFill>
                <a:latin typeface="Arial" pitchFamily="34" charset="0"/>
                <a:ea typeface="Arial" pitchFamily="34" charset="-122"/>
                <a:cs typeface="Arial" pitchFamily="34" charset="-120"/>
              </a:rPr>
              <a:t>Save Time</a:t>
            </a:r>
            <a:endParaRPr lang="en-US" sz="1800" dirty="0"/>
          </a:p>
        </p:txBody>
      </p:sp>
      <p:sp>
        <p:nvSpPr>
          <p:cNvPr id="8" name="Text 6"/>
          <p:cNvSpPr/>
          <p:nvPr/>
        </p:nvSpPr>
        <p:spPr>
          <a:xfrm>
            <a:off x="548640" y="2880360"/>
            <a:ext cx="2423160" cy="1554480"/>
          </a:xfrm>
          <a:prstGeom prst="rect">
            <a:avLst/>
          </a:prstGeom>
          <a:noFill/>
          <a:ln/>
        </p:spPr>
        <p:txBody>
          <a:bodyPr wrap="square" rtlCol="0" anchor="ctr"/>
          <a:lstStyle/>
          <a:p>
            <a:pPr marL="0" indent="0" algn="ctr">
              <a:buNone/>
            </a:pPr>
            <a:r>
              <a:rPr lang="en-US" sz="1200" dirty="0">
                <a:solidFill>
                  <a:srgbClr val="2F3C7E"/>
                </a:solidFill>
                <a:latin typeface="Arial" pitchFamily="34" charset="0"/>
                <a:ea typeface="Arial" pitchFamily="34" charset="-122"/>
                <a:cs typeface="Arial" pitchFamily="34" charset="-120"/>
              </a:rPr>
              <a:t>Developers can write code faster by letting AI handle repetitive tasks and boilerplate code, freeing time for creative problem-solving.</a:t>
            </a:r>
            <a:endParaRPr lang="en-US" sz="1200" dirty="0"/>
          </a:p>
        </p:txBody>
      </p:sp>
      <p:sp>
        <p:nvSpPr>
          <p:cNvPr id="9" name="Shape 7"/>
          <p:cNvSpPr/>
          <p:nvPr/>
        </p:nvSpPr>
        <p:spPr>
          <a:xfrm>
            <a:off x="3268980" y="1097280"/>
            <a:ext cx="2606040" cy="3474720"/>
          </a:xfrm>
          <a:prstGeom prst="roundRect">
            <a:avLst>
              <a:gd name="adj" fmla="val 5263"/>
            </a:avLst>
          </a:prstGeom>
          <a:solidFill>
            <a:srgbClr val="F2F2F2"/>
          </a:solidFill>
          <a:ln/>
          <a:effectLst>
            <a:outerShdw blurRad="76200" dist="25400" dir="2700000" algn="bl" rotWithShape="0">
              <a:srgbClr val="000000">
                <a:alpha val="12000"/>
              </a:srgbClr>
            </a:outerShdw>
          </a:effectLst>
        </p:spPr>
        <p:txBody>
          <a:bodyPr/>
          <a:lstStyle/>
          <a:p>
            <a:endParaRPr lang="en-CA"/>
          </a:p>
        </p:txBody>
      </p:sp>
      <p:sp>
        <p:nvSpPr>
          <p:cNvPr id="10" name="Shape 8"/>
          <p:cNvSpPr/>
          <p:nvPr/>
        </p:nvSpPr>
        <p:spPr>
          <a:xfrm>
            <a:off x="3589020" y="1371600"/>
            <a:ext cx="1965960" cy="731520"/>
          </a:xfrm>
          <a:prstGeom prst="ellipse">
            <a:avLst/>
          </a:prstGeom>
          <a:solidFill>
            <a:srgbClr val="21D4DE"/>
          </a:solidFill>
          <a:ln/>
        </p:spPr>
        <p:txBody>
          <a:bodyPr/>
          <a:lstStyle/>
          <a:p>
            <a:endParaRPr lang="en-CA"/>
          </a:p>
        </p:txBody>
      </p:sp>
      <p:sp>
        <p:nvSpPr>
          <p:cNvPr id="11" name="Text 9"/>
          <p:cNvSpPr/>
          <p:nvPr/>
        </p:nvSpPr>
        <p:spPr>
          <a:xfrm>
            <a:off x="3589020" y="1371600"/>
            <a:ext cx="1965960" cy="731520"/>
          </a:xfrm>
          <a:prstGeom prst="rect">
            <a:avLst/>
          </a:prstGeom>
          <a:noFill/>
          <a:ln/>
        </p:spPr>
        <p:txBody>
          <a:bodyPr wrap="square" rtlCol="0" anchor="ctr"/>
          <a:lstStyle/>
          <a:p>
            <a:pPr marL="0" indent="0" algn="ctr">
              <a:buNone/>
            </a:pPr>
            <a:r>
              <a:rPr lang="en-US" sz="4800" dirty="0">
                <a:solidFill>
                  <a:srgbClr val="000000"/>
                </a:solidFill>
              </a:rPr>
              <a:t>📚</a:t>
            </a:r>
            <a:endParaRPr lang="en-US" sz="4800" dirty="0"/>
          </a:p>
        </p:txBody>
      </p:sp>
      <p:sp>
        <p:nvSpPr>
          <p:cNvPr id="12" name="Text 10"/>
          <p:cNvSpPr/>
          <p:nvPr/>
        </p:nvSpPr>
        <p:spPr>
          <a:xfrm>
            <a:off x="3360420" y="2240280"/>
            <a:ext cx="2423160" cy="548640"/>
          </a:xfrm>
          <a:prstGeom prst="rect">
            <a:avLst/>
          </a:prstGeom>
          <a:noFill/>
          <a:ln/>
        </p:spPr>
        <p:txBody>
          <a:bodyPr wrap="square" rtlCol="0" anchor="ctr"/>
          <a:lstStyle/>
          <a:p>
            <a:pPr marL="0" indent="0" algn="ctr">
              <a:buNone/>
            </a:pPr>
            <a:r>
              <a:rPr lang="en-US" sz="1800" b="1" dirty="0">
                <a:solidFill>
                  <a:srgbClr val="2F3C7E"/>
                </a:solidFill>
                <a:latin typeface="Arial" pitchFamily="34" charset="0"/>
                <a:ea typeface="Arial" pitchFamily="34" charset="-122"/>
                <a:cs typeface="Arial" pitchFamily="34" charset="-120"/>
              </a:rPr>
              <a:t>Support Learning</a:t>
            </a:r>
            <a:endParaRPr lang="en-US" sz="1800" dirty="0"/>
          </a:p>
        </p:txBody>
      </p:sp>
      <p:sp>
        <p:nvSpPr>
          <p:cNvPr id="13" name="Text 11"/>
          <p:cNvSpPr/>
          <p:nvPr/>
        </p:nvSpPr>
        <p:spPr>
          <a:xfrm>
            <a:off x="3360420" y="2880360"/>
            <a:ext cx="2423160" cy="1554480"/>
          </a:xfrm>
          <a:prstGeom prst="rect">
            <a:avLst/>
          </a:prstGeom>
          <a:noFill/>
          <a:ln/>
        </p:spPr>
        <p:txBody>
          <a:bodyPr wrap="square" rtlCol="0" anchor="ctr"/>
          <a:lstStyle/>
          <a:p>
            <a:pPr marL="0" indent="0" algn="ctr">
              <a:buNone/>
            </a:pPr>
            <a:r>
              <a:rPr lang="en-US" sz="1200" dirty="0">
                <a:solidFill>
                  <a:srgbClr val="2F3C7E"/>
                </a:solidFill>
                <a:latin typeface="Arial" pitchFamily="34" charset="0"/>
                <a:ea typeface="Arial" pitchFamily="34" charset="-122"/>
                <a:cs typeface="Arial" pitchFamily="34" charset="-120"/>
              </a:rPr>
              <a:t>Beginners learn by studying suggested code and explanations. AI assistants provide examples and context that accelerate the learning curve.</a:t>
            </a:r>
            <a:endParaRPr lang="en-US" sz="1200" dirty="0"/>
          </a:p>
        </p:txBody>
      </p:sp>
      <p:sp>
        <p:nvSpPr>
          <p:cNvPr id="14" name="Shape 12"/>
          <p:cNvSpPr/>
          <p:nvPr/>
        </p:nvSpPr>
        <p:spPr>
          <a:xfrm>
            <a:off x="6080760" y="1097280"/>
            <a:ext cx="2606040" cy="3474720"/>
          </a:xfrm>
          <a:prstGeom prst="roundRect">
            <a:avLst>
              <a:gd name="adj" fmla="val 5263"/>
            </a:avLst>
          </a:prstGeom>
          <a:solidFill>
            <a:srgbClr val="F2F2F2"/>
          </a:solidFill>
          <a:ln/>
          <a:effectLst>
            <a:outerShdw blurRad="76200" dist="25400" dir="2700000" algn="bl" rotWithShape="0">
              <a:srgbClr val="000000">
                <a:alpha val="12000"/>
              </a:srgbClr>
            </a:outerShdw>
          </a:effectLst>
        </p:spPr>
        <p:txBody>
          <a:bodyPr/>
          <a:lstStyle/>
          <a:p>
            <a:endParaRPr lang="en-CA"/>
          </a:p>
        </p:txBody>
      </p:sp>
      <p:sp>
        <p:nvSpPr>
          <p:cNvPr id="15" name="Shape 13"/>
          <p:cNvSpPr/>
          <p:nvPr/>
        </p:nvSpPr>
        <p:spPr>
          <a:xfrm>
            <a:off x="6400800" y="1371600"/>
            <a:ext cx="1965960" cy="731520"/>
          </a:xfrm>
          <a:prstGeom prst="ellipse">
            <a:avLst/>
          </a:prstGeom>
          <a:solidFill>
            <a:srgbClr val="065A82"/>
          </a:solidFill>
          <a:ln/>
        </p:spPr>
        <p:txBody>
          <a:bodyPr/>
          <a:lstStyle/>
          <a:p>
            <a:endParaRPr lang="en-CA"/>
          </a:p>
        </p:txBody>
      </p:sp>
      <p:sp>
        <p:nvSpPr>
          <p:cNvPr id="16" name="Text 14"/>
          <p:cNvSpPr/>
          <p:nvPr/>
        </p:nvSpPr>
        <p:spPr>
          <a:xfrm>
            <a:off x="6400800" y="1371600"/>
            <a:ext cx="1965960" cy="731520"/>
          </a:xfrm>
          <a:prstGeom prst="rect">
            <a:avLst/>
          </a:prstGeom>
          <a:noFill/>
          <a:ln/>
        </p:spPr>
        <p:txBody>
          <a:bodyPr wrap="square" rtlCol="0" anchor="ctr"/>
          <a:lstStyle/>
          <a:p>
            <a:pPr marL="0" indent="0" algn="ctr">
              <a:buNone/>
            </a:pPr>
            <a:r>
              <a:rPr lang="en-US" sz="4800" dirty="0">
                <a:solidFill>
                  <a:srgbClr val="000000"/>
                </a:solidFill>
              </a:rPr>
              <a:t>🔧</a:t>
            </a:r>
            <a:endParaRPr lang="en-US" sz="4800" dirty="0"/>
          </a:p>
        </p:txBody>
      </p:sp>
      <p:sp>
        <p:nvSpPr>
          <p:cNvPr id="17" name="Text 15"/>
          <p:cNvSpPr/>
          <p:nvPr/>
        </p:nvSpPr>
        <p:spPr>
          <a:xfrm>
            <a:off x="6172200" y="2240280"/>
            <a:ext cx="2423160" cy="548640"/>
          </a:xfrm>
          <a:prstGeom prst="rect">
            <a:avLst/>
          </a:prstGeom>
          <a:noFill/>
          <a:ln/>
        </p:spPr>
        <p:txBody>
          <a:bodyPr wrap="square" rtlCol="0" anchor="ctr"/>
          <a:lstStyle/>
          <a:p>
            <a:pPr marL="0" indent="0" algn="ctr">
              <a:buNone/>
            </a:pPr>
            <a:r>
              <a:rPr lang="en-US" sz="1800" b="1" dirty="0">
                <a:solidFill>
                  <a:srgbClr val="2F3C7E"/>
                </a:solidFill>
                <a:latin typeface="Arial" pitchFamily="34" charset="0"/>
                <a:ea typeface="Arial" pitchFamily="34" charset="-122"/>
                <a:cs typeface="Arial" pitchFamily="34" charset="-120"/>
              </a:rPr>
              <a:t>Development Support</a:t>
            </a:r>
            <a:endParaRPr lang="en-US" sz="1800" dirty="0"/>
          </a:p>
        </p:txBody>
      </p:sp>
      <p:sp>
        <p:nvSpPr>
          <p:cNvPr id="18" name="Text 16"/>
          <p:cNvSpPr/>
          <p:nvPr/>
        </p:nvSpPr>
        <p:spPr>
          <a:xfrm>
            <a:off x="6172200" y="2880360"/>
            <a:ext cx="2423160" cy="1554480"/>
          </a:xfrm>
          <a:prstGeom prst="rect">
            <a:avLst/>
          </a:prstGeom>
          <a:noFill/>
          <a:ln/>
        </p:spPr>
        <p:txBody>
          <a:bodyPr wrap="square" rtlCol="0" anchor="ctr"/>
          <a:lstStyle/>
          <a:p>
            <a:pPr marL="0" indent="0" algn="ctr">
              <a:buNone/>
            </a:pPr>
            <a:r>
              <a:rPr lang="en-US" sz="1200" dirty="0">
                <a:solidFill>
                  <a:srgbClr val="2F3C7E"/>
                </a:solidFill>
                <a:latin typeface="Arial" pitchFamily="34" charset="0"/>
                <a:ea typeface="Arial" pitchFamily="34" charset="-122"/>
                <a:cs typeface="Arial" pitchFamily="34" charset="-120"/>
              </a:rPr>
              <a:t>Assistance with writing tests, fixing errors, and understanding unfamiliar code. AI helps developers work more effectively.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2F3C7E"/>
          </a:solidFill>
          <a:ln/>
        </p:spPr>
        <p:txBody>
          <a:bodyPr/>
          <a:lstStyle/>
          <a:p>
            <a:endParaRPr lang="en-CA"/>
          </a:p>
        </p:txBody>
      </p:sp>
      <p:sp>
        <p:nvSpPr>
          <p:cNvPr id="3" name="Text 1"/>
          <p:cNvSpPr/>
          <p:nvPr/>
        </p:nvSpPr>
        <p:spPr>
          <a:xfrm>
            <a:off x="457200" y="137160"/>
            <a:ext cx="8229600" cy="457200"/>
          </a:xfrm>
          <a:prstGeom prst="rect">
            <a:avLst/>
          </a:prstGeom>
          <a:noFill/>
          <a:ln/>
        </p:spPr>
        <p:txBody>
          <a:bodyPr wrap="square" rtlCol="0" anchor="ctr"/>
          <a:lstStyle/>
          <a:p>
            <a:pPr marL="0" indent="0">
              <a:buNone/>
            </a:pPr>
            <a:r>
              <a:rPr lang="en-US" sz="4000" b="1" dirty="0">
                <a:solidFill>
                  <a:srgbClr val="FFFFFF"/>
                </a:solidFill>
                <a:latin typeface="Arial" pitchFamily="34" charset="0"/>
                <a:ea typeface="Arial" pitchFamily="34" charset="-122"/>
                <a:cs typeface="Arial" pitchFamily="34" charset="-120"/>
              </a:rPr>
              <a:t>Important Challenges</a:t>
            </a:r>
            <a:endParaRPr lang="en-US" sz="4000" dirty="0"/>
          </a:p>
        </p:txBody>
      </p:sp>
      <p:sp>
        <p:nvSpPr>
          <p:cNvPr id="4" name="Shape 2"/>
          <p:cNvSpPr/>
          <p:nvPr/>
        </p:nvSpPr>
        <p:spPr>
          <a:xfrm>
            <a:off x="457200" y="1097280"/>
            <a:ext cx="8229600" cy="1280160"/>
          </a:xfrm>
          <a:prstGeom prst="roundRect">
            <a:avLst>
              <a:gd name="adj" fmla="val 8571"/>
            </a:avLst>
          </a:prstGeom>
          <a:solidFill>
            <a:srgbClr val="F2F2F2"/>
          </a:solidFill>
          <a:ln/>
          <a:effectLst>
            <a:outerShdw blurRad="76200" dist="25400" dir="2700000" algn="bl" rotWithShape="0">
              <a:srgbClr val="000000">
                <a:alpha val="12000"/>
              </a:srgbClr>
            </a:outerShdw>
          </a:effectLst>
        </p:spPr>
        <p:txBody>
          <a:bodyPr/>
          <a:lstStyle/>
          <a:p>
            <a:endParaRPr lang="en-CA"/>
          </a:p>
        </p:txBody>
      </p:sp>
      <p:sp>
        <p:nvSpPr>
          <p:cNvPr id="5" name="Shape 3"/>
          <p:cNvSpPr/>
          <p:nvPr/>
        </p:nvSpPr>
        <p:spPr>
          <a:xfrm>
            <a:off x="457200" y="1097280"/>
            <a:ext cx="91440" cy="1280160"/>
          </a:xfrm>
          <a:prstGeom prst="rect">
            <a:avLst/>
          </a:prstGeom>
          <a:solidFill>
            <a:srgbClr val="FF6B35"/>
          </a:solidFill>
          <a:ln/>
        </p:spPr>
        <p:txBody>
          <a:bodyPr/>
          <a:lstStyle/>
          <a:p>
            <a:endParaRPr lang="en-CA"/>
          </a:p>
        </p:txBody>
      </p:sp>
      <p:sp>
        <p:nvSpPr>
          <p:cNvPr id="6" name="Text 4"/>
          <p:cNvSpPr/>
          <p:nvPr/>
        </p:nvSpPr>
        <p:spPr>
          <a:xfrm>
            <a:off x="822960" y="1463040"/>
            <a:ext cx="7772400" cy="320040"/>
          </a:xfrm>
          <a:prstGeom prst="rect">
            <a:avLst/>
          </a:prstGeom>
          <a:noFill/>
          <a:ln/>
        </p:spPr>
        <p:txBody>
          <a:bodyPr wrap="square" rtlCol="0" anchor="ctr"/>
          <a:lstStyle/>
          <a:p>
            <a:pPr marL="0" indent="0">
              <a:buNone/>
            </a:pPr>
            <a:r>
              <a:rPr lang="en-US" sz="1600" b="1" dirty="0">
                <a:solidFill>
                  <a:srgbClr val="2F3C7E"/>
                </a:solidFill>
                <a:latin typeface="Arial" pitchFamily="34" charset="0"/>
                <a:ea typeface="Arial" pitchFamily="34" charset="-122"/>
                <a:cs typeface="Arial" pitchFamily="34" charset="-120"/>
              </a:rPr>
              <a:t>⚠️  AI Can Make Mistakes</a:t>
            </a:r>
            <a:endParaRPr lang="en-US" sz="1600" dirty="0"/>
          </a:p>
        </p:txBody>
      </p:sp>
      <p:sp>
        <p:nvSpPr>
          <p:cNvPr id="7" name="Text 5"/>
          <p:cNvSpPr/>
          <p:nvPr/>
        </p:nvSpPr>
        <p:spPr>
          <a:xfrm>
            <a:off x="822960" y="1691640"/>
            <a:ext cx="7772400" cy="548640"/>
          </a:xfrm>
          <a:prstGeom prst="rect">
            <a:avLst/>
          </a:prstGeom>
          <a:noFill/>
          <a:ln/>
        </p:spPr>
        <p:txBody>
          <a:bodyPr wrap="square" rtlCol="0" anchor="ctr"/>
          <a:lstStyle/>
          <a:p>
            <a:pPr marL="0" indent="0">
              <a:buNone/>
            </a:pPr>
            <a:r>
              <a:rPr lang="en-US" sz="1300" dirty="0">
                <a:solidFill>
                  <a:srgbClr val="2F3C7E"/>
                </a:solidFill>
                <a:latin typeface="Arial" pitchFamily="34" charset="0"/>
                <a:ea typeface="Arial" pitchFamily="34" charset="-122"/>
                <a:cs typeface="Arial" pitchFamily="34" charset="-120"/>
              </a:rPr>
              <a:t>AI can suggest insecure code, contain bugs, or provide answers that developers don't fully understand. Code quality depends on careful review.</a:t>
            </a:r>
            <a:endParaRPr lang="en-US" sz="1300" dirty="0"/>
          </a:p>
        </p:txBody>
      </p:sp>
      <p:sp>
        <p:nvSpPr>
          <p:cNvPr id="8" name="Shape 6"/>
          <p:cNvSpPr/>
          <p:nvPr/>
        </p:nvSpPr>
        <p:spPr>
          <a:xfrm>
            <a:off x="457200" y="2697480"/>
            <a:ext cx="8229600" cy="1280160"/>
          </a:xfrm>
          <a:prstGeom prst="roundRect">
            <a:avLst>
              <a:gd name="adj" fmla="val 8571"/>
            </a:avLst>
          </a:prstGeom>
          <a:solidFill>
            <a:srgbClr val="F2F2F2"/>
          </a:solidFill>
          <a:ln/>
          <a:effectLst>
            <a:outerShdw blurRad="76200" dist="25400" dir="2700000" algn="bl" rotWithShape="0">
              <a:srgbClr val="000000">
                <a:alpha val="12000"/>
              </a:srgbClr>
            </a:outerShdw>
          </a:effectLst>
        </p:spPr>
        <p:txBody>
          <a:bodyPr/>
          <a:lstStyle/>
          <a:p>
            <a:endParaRPr lang="en-CA"/>
          </a:p>
        </p:txBody>
      </p:sp>
      <p:sp>
        <p:nvSpPr>
          <p:cNvPr id="9" name="Shape 7"/>
          <p:cNvSpPr/>
          <p:nvPr/>
        </p:nvSpPr>
        <p:spPr>
          <a:xfrm>
            <a:off x="457200" y="2697480"/>
            <a:ext cx="91440" cy="1280160"/>
          </a:xfrm>
          <a:prstGeom prst="rect">
            <a:avLst/>
          </a:prstGeom>
          <a:solidFill>
            <a:srgbClr val="FF6B35"/>
          </a:solidFill>
          <a:ln/>
        </p:spPr>
        <p:txBody>
          <a:bodyPr/>
          <a:lstStyle/>
          <a:p>
            <a:endParaRPr lang="en-CA"/>
          </a:p>
        </p:txBody>
      </p:sp>
      <p:sp>
        <p:nvSpPr>
          <p:cNvPr id="10" name="Text 8"/>
          <p:cNvSpPr/>
          <p:nvPr/>
        </p:nvSpPr>
        <p:spPr>
          <a:xfrm>
            <a:off x="822960" y="3063240"/>
            <a:ext cx="7772400" cy="320040"/>
          </a:xfrm>
          <a:prstGeom prst="rect">
            <a:avLst/>
          </a:prstGeom>
          <a:noFill/>
          <a:ln/>
        </p:spPr>
        <p:txBody>
          <a:bodyPr wrap="square" rtlCol="0" anchor="ctr"/>
          <a:lstStyle/>
          <a:p>
            <a:pPr marL="0" indent="0">
              <a:buNone/>
            </a:pPr>
            <a:r>
              <a:rPr lang="en-US" sz="1600" b="1" dirty="0">
                <a:solidFill>
                  <a:srgbClr val="2F3C7E"/>
                </a:solidFill>
                <a:latin typeface="Arial" pitchFamily="34" charset="0"/>
                <a:ea typeface="Arial" pitchFamily="34" charset="-122"/>
                <a:cs typeface="Arial" pitchFamily="34" charset="-120"/>
              </a:rPr>
              <a:t>🔍  Critical: Review Before Using</a:t>
            </a:r>
            <a:endParaRPr lang="en-US" sz="1600" dirty="0"/>
          </a:p>
        </p:txBody>
      </p:sp>
      <p:sp>
        <p:nvSpPr>
          <p:cNvPr id="11" name="Text 9"/>
          <p:cNvSpPr/>
          <p:nvPr/>
        </p:nvSpPr>
        <p:spPr>
          <a:xfrm>
            <a:off x="822960" y="3291840"/>
            <a:ext cx="7772400" cy="548640"/>
          </a:xfrm>
          <a:prstGeom prst="rect">
            <a:avLst/>
          </a:prstGeom>
          <a:noFill/>
          <a:ln/>
        </p:spPr>
        <p:txBody>
          <a:bodyPr wrap="square" rtlCol="0" anchor="ctr"/>
          <a:lstStyle/>
          <a:p>
            <a:pPr marL="0" indent="0">
              <a:buNone/>
            </a:pPr>
            <a:r>
              <a:rPr lang="en-US" sz="1300" dirty="0">
                <a:solidFill>
                  <a:srgbClr val="2F3C7E"/>
                </a:solidFill>
                <a:latin typeface="Arial" pitchFamily="34" charset="0"/>
                <a:ea typeface="Arial" pitchFamily="34" charset="-122"/>
                <a:cs typeface="Arial" pitchFamily="34" charset="-120"/>
              </a:rPr>
              <a:t>Developers must still review, test, and fully understand the code before using it in production. AI should enhance human judgment, not replace it.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457200" y="1371600"/>
            <a:ext cx="8229600" cy="822960"/>
          </a:xfrm>
          <a:prstGeom prst="rect">
            <a:avLst/>
          </a:prstGeom>
          <a:noFill/>
          <a:ln/>
        </p:spPr>
        <p:txBody>
          <a:bodyPr wrap="square" rtlCol="0" anchor="ctr"/>
          <a:lstStyle/>
          <a:p>
            <a:pPr marL="0" indent="0" algn="ctr">
              <a:buNone/>
            </a:pPr>
            <a:r>
              <a:rPr lang="en-US" sz="4800" b="1" dirty="0">
                <a:solidFill>
                  <a:srgbClr val="FFFFFF"/>
                </a:solidFill>
                <a:latin typeface="Arial" pitchFamily="34" charset="0"/>
                <a:ea typeface="Arial" pitchFamily="34" charset="-122"/>
                <a:cs typeface="Arial" pitchFamily="34" charset="-120"/>
              </a:rPr>
              <a:t>The Future is Collaborative</a:t>
            </a:r>
            <a:endParaRPr lang="en-US" sz="4800" dirty="0"/>
          </a:p>
        </p:txBody>
      </p:sp>
      <p:sp>
        <p:nvSpPr>
          <p:cNvPr id="3" name="Shape 1"/>
          <p:cNvSpPr/>
          <p:nvPr/>
        </p:nvSpPr>
        <p:spPr>
          <a:xfrm>
            <a:off x="1828800" y="2377440"/>
            <a:ext cx="5486400" cy="73152"/>
          </a:xfrm>
          <a:prstGeom prst="rect">
            <a:avLst/>
          </a:prstGeom>
          <a:solidFill>
            <a:srgbClr val="21D4DE"/>
          </a:solidFill>
          <a:ln/>
        </p:spPr>
        <p:txBody>
          <a:bodyPr/>
          <a:lstStyle/>
          <a:p>
            <a:endParaRPr lang="en-CA"/>
          </a:p>
        </p:txBody>
      </p:sp>
      <p:sp>
        <p:nvSpPr>
          <p:cNvPr id="4" name="Text 2"/>
          <p:cNvSpPr/>
          <p:nvPr/>
        </p:nvSpPr>
        <p:spPr>
          <a:xfrm>
            <a:off x="640080" y="2697480"/>
            <a:ext cx="2560320" cy="1097280"/>
          </a:xfrm>
          <a:prstGeom prst="rect">
            <a:avLst/>
          </a:prstGeom>
          <a:noFill/>
          <a:ln/>
        </p:spPr>
        <p:txBody>
          <a:bodyPr wrap="square" rtlCol="0" anchor="ctr"/>
          <a:lstStyle/>
          <a:p>
            <a:pPr marL="0" indent="0" algn="ctr">
              <a:buNone/>
            </a:pPr>
            <a:r>
              <a:rPr lang="en-US" sz="1600" b="1" dirty="0">
                <a:solidFill>
                  <a:srgbClr val="21D4DE"/>
                </a:solidFill>
                <a:latin typeface="Arial" pitchFamily="34" charset="0"/>
                <a:ea typeface="Arial" pitchFamily="34" charset="-122"/>
                <a:cs typeface="Arial" pitchFamily="34" charset="-120"/>
              </a:rPr>
              <a:t>Increased
</a:t>
            </a:r>
            <a:endParaRPr lang="en-US" sz="1400" dirty="0"/>
          </a:p>
          <a:p>
            <a:pPr marL="0" indent="0" algn="ctr">
              <a:buNone/>
            </a:pPr>
            <a:r>
              <a:rPr lang="en-US" sz="1600" dirty="0">
                <a:solidFill>
                  <a:srgbClr val="21D4DE"/>
                </a:solidFill>
                <a:latin typeface="Arial" pitchFamily="34" charset="0"/>
                <a:ea typeface="Arial" pitchFamily="34" charset="-122"/>
                <a:cs typeface="Arial" pitchFamily="34" charset="-120"/>
              </a:rPr>
              <a:t>Productivity</a:t>
            </a:r>
            <a:endParaRPr lang="en-US" sz="1400" dirty="0"/>
          </a:p>
        </p:txBody>
      </p:sp>
      <p:sp>
        <p:nvSpPr>
          <p:cNvPr id="5" name="Text 3"/>
          <p:cNvSpPr/>
          <p:nvPr/>
        </p:nvSpPr>
        <p:spPr>
          <a:xfrm>
            <a:off x="3337560" y="2697480"/>
            <a:ext cx="2560320" cy="1097280"/>
          </a:xfrm>
          <a:prstGeom prst="rect">
            <a:avLst/>
          </a:prstGeom>
          <a:noFill/>
          <a:ln/>
        </p:spPr>
        <p:txBody>
          <a:bodyPr wrap="square" rtlCol="0" anchor="ctr"/>
          <a:lstStyle/>
          <a:p>
            <a:pPr marL="0" indent="0" algn="ctr">
              <a:buNone/>
            </a:pPr>
            <a:r>
              <a:rPr lang="en-US" sz="1600" b="1" dirty="0">
                <a:solidFill>
                  <a:srgbClr val="21D4DE"/>
                </a:solidFill>
                <a:latin typeface="Arial" pitchFamily="34" charset="0"/>
                <a:ea typeface="Arial" pitchFamily="34" charset="-122"/>
                <a:cs typeface="Arial" pitchFamily="34" charset="-120"/>
              </a:rPr>
              <a:t>Responsible
</a:t>
            </a:r>
            <a:endParaRPr lang="en-US" sz="1400" dirty="0"/>
          </a:p>
          <a:p>
            <a:pPr marL="0" indent="0" algn="ctr">
              <a:buNone/>
            </a:pPr>
            <a:r>
              <a:rPr lang="en-US" sz="1600" dirty="0">
                <a:solidFill>
                  <a:srgbClr val="21D4DE"/>
                </a:solidFill>
                <a:latin typeface="Arial" pitchFamily="34" charset="0"/>
                <a:ea typeface="Arial" pitchFamily="34" charset="-122"/>
                <a:cs typeface="Arial" pitchFamily="34" charset="-120"/>
              </a:rPr>
              <a:t>Use Required</a:t>
            </a:r>
            <a:endParaRPr lang="en-US" sz="1400" dirty="0"/>
          </a:p>
        </p:txBody>
      </p:sp>
      <p:sp>
        <p:nvSpPr>
          <p:cNvPr id="6" name="Text 4"/>
          <p:cNvSpPr/>
          <p:nvPr/>
        </p:nvSpPr>
        <p:spPr>
          <a:xfrm>
            <a:off x="6035040" y="2697480"/>
            <a:ext cx="2560320" cy="1097280"/>
          </a:xfrm>
          <a:prstGeom prst="rect">
            <a:avLst/>
          </a:prstGeom>
          <a:noFill/>
          <a:ln/>
        </p:spPr>
        <p:txBody>
          <a:bodyPr wrap="square" rtlCol="0" anchor="ctr"/>
          <a:lstStyle/>
          <a:p>
            <a:pPr marL="0" indent="0" algn="ctr">
              <a:buNone/>
            </a:pPr>
            <a:r>
              <a:rPr lang="en-US" sz="1600" b="1" dirty="0">
                <a:solidFill>
                  <a:srgbClr val="21D4DE"/>
                </a:solidFill>
                <a:latin typeface="Arial" pitchFamily="34" charset="0"/>
                <a:ea typeface="Arial" pitchFamily="34" charset="-122"/>
                <a:cs typeface="Arial" pitchFamily="34" charset="-120"/>
              </a:rPr>
              <a:t>Developer
</a:t>
            </a:r>
            <a:endParaRPr lang="en-US" sz="1400" dirty="0"/>
          </a:p>
          <a:p>
            <a:pPr marL="0" indent="0" algn="ctr">
              <a:buNone/>
            </a:pPr>
            <a:r>
              <a:rPr lang="en-US" sz="1600" dirty="0">
                <a:solidFill>
                  <a:srgbClr val="21D4DE"/>
                </a:solidFill>
                <a:latin typeface="Arial" pitchFamily="34" charset="0"/>
                <a:ea typeface="Arial" pitchFamily="34" charset="-122"/>
                <a:cs typeface="Arial" pitchFamily="34" charset="-120"/>
              </a:rPr>
              <a:t>Advantage</a:t>
            </a:r>
            <a:endParaRPr lang="en-US" sz="1400" dirty="0"/>
          </a:p>
        </p:txBody>
      </p:sp>
      <p:sp>
        <p:nvSpPr>
          <p:cNvPr id="7" name="Text 5"/>
          <p:cNvSpPr/>
          <p:nvPr/>
        </p:nvSpPr>
        <p:spPr>
          <a:xfrm>
            <a:off x="457200" y="4023360"/>
            <a:ext cx="8229600" cy="731520"/>
          </a:xfrm>
          <a:prstGeom prst="rect">
            <a:avLst/>
          </a:prstGeom>
          <a:noFill/>
          <a:ln/>
        </p:spPr>
        <p:txBody>
          <a:bodyPr wrap="square" rtlCol="0" anchor="ctr"/>
          <a:lstStyle/>
          <a:p>
            <a:pPr marL="0" indent="0" algn="ctr">
              <a:buNone/>
            </a:pPr>
            <a:r>
              <a:rPr lang="en-US" sz="1600" dirty="0">
                <a:solidFill>
                  <a:srgbClr val="FFFFFF"/>
                </a:solidFill>
                <a:latin typeface="Arial" pitchFamily="34" charset="0"/>
                <a:ea typeface="Arial" pitchFamily="34" charset="-122"/>
                <a:cs typeface="Arial" pitchFamily="34" charset="-120"/>
              </a:rPr>
              <a:t>AI coding assistants are changing software development. They can improve productivity, but developers must use them carefully and responsibly.</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F3C7E"/>
        </a:solidFill>
        <a:effectLst/>
      </p:bgPr>
    </p:bg>
    <p:spTree>
      <p:nvGrpSpPr>
        <p:cNvPr id="1" name=""/>
        <p:cNvGrpSpPr/>
        <p:nvPr/>
      </p:nvGrpSpPr>
      <p:grpSpPr>
        <a:xfrm>
          <a:off x="0" y="0"/>
          <a:ext cx="0" cy="0"/>
          <a:chOff x="0" y="0"/>
          <a:chExt cx="0" cy="0"/>
        </a:xfrm>
      </p:grpSpPr>
      <p:sp>
        <p:nvSpPr>
          <p:cNvPr id="2" name="Text 0"/>
          <p:cNvSpPr/>
          <p:nvPr/>
        </p:nvSpPr>
        <p:spPr>
          <a:xfrm>
            <a:off x="457200" y="731520"/>
            <a:ext cx="8229600" cy="548640"/>
          </a:xfrm>
          <a:prstGeom prst="rect">
            <a:avLst/>
          </a:prstGeom>
          <a:noFill/>
          <a:ln/>
        </p:spPr>
        <p:txBody>
          <a:bodyPr wrap="square" rtlCol="0" anchor="ctr"/>
          <a:lstStyle/>
          <a:p>
            <a:pPr marL="0" indent="0" algn="ctr">
              <a:buNone/>
            </a:pPr>
            <a:r>
              <a:rPr lang="en-US" sz="3200" b="1" dirty="0">
                <a:solidFill>
                  <a:srgbClr val="21D4DE"/>
                </a:solidFill>
                <a:latin typeface="Arial" pitchFamily="34" charset="0"/>
                <a:ea typeface="Arial" pitchFamily="34" charset="-122"/>
                <a:cs typeface="Arial" pitchFamily="34" charset="-120"/>
              </a:rPr>
              <a:t>Think About This...</a:t>
            </a:r>
            <a:endParaRPr lang="en-US" sz="3200" dirty="0"/>
          </a:p>
        </p:txBody>
      </p:sp>
      <p:sp>
        <p:nvSpPr>
          <p:cNvPr id="3" name="Shape 1"/>
          <p:cNvSpPr/>
          <p:nvPr/>
        </p:nvSpPr>
        <p:spPr>
          <a:xfrm>
            <a:off x="914400" y="1554480"/>
            <a:ext cx="7315200" cy="2560320"/>
          </a:xfrm>
          <a:prstGeom prst="roundRect">
            <a:avLst>
              <a:gd name="adj" fmla="val 5357"/>
            </a:avLst>
          </a:prstGeom>
          <a:solidFill>
            <a:srgbClr val="F2F2F2"/>
          </a:solidFill>
          <a:ln/>
          <a:effectLst>
            <a:outerShdw blurRad="76200" dist="25400" dir="2700000" algn="bl" rotWithShape="0">
              <a:srgbClr val="000000">
                <a:alpha val="12000"/>
              </a:srgbClr>
            </a:outerShdw>
          </a:effectLst>
        </p:spPr>
        <p:txBody>
          <a:bodyPr/>
          <a:lstStyle/>
          <a:p>
            <a:endParaRPr lang="en-CA"/>
          </a:p>
        </p:txBody>
      </p:sp>
      <p:sp>
        <p:nvSpPr>
          <p:cNvPr id="4" name="Text 2"/>
          <p:cNvSpPr/>
          <p:nvPr/>
        </p:nvSpPr>
        <p:spPr>
          <a:xfrm>
            <a:off x="1280160" y="1828800"/>
            <a:ext cx="6583680" cy="2011680"/>
          </a:xfrm>
          <a:prstGeom prst="rect">
            <a:avLst/>
          </a:prstGeom>
          <a:noFill/>
          <a:ln/>
        </p:spPr>
        <p:txBody>
          <a:bodyPr wrap="square" rtlCol="0" anchor="ctr"/>
          <a:lstStyle/>
          <a:p>
            <a:pPr marL="0" indent="0" algn="ctr">
              <a:buNone/>
            </a:pPr>
            <a:r>
              <a:rPr lang="en-US" sz="2000" b="1" dirty="0">
                <a:solidFill>
                  <a:srgbClr val="2F3C7E"/>
                </a:solidFill>
                <a:latin typeface="Arial" pitchFamily="34" charset="0"/>
                <a:ea typeface="Arial" pitchFamily="34" charset="-122"/>
                <a:cs typeface="Arial" pitchFamily="34" charset="-120"/>
              </a:rPr>
              <a:t>Do you think AI coding assistants like GitHub Copilot help developers become more productive, or do they make developers depend too much on AI? Why?</a:t>
            </a:r>
            <a:endParaRPr lang="en-US" sz="2000" dirty="0"/>
          </a:p>
        </p:txBody>
      </p:sp>
      <p:sp>
        <p:nvSpPr>
          <p:cNvPr id="5" name="Text 3"/>
          <p:cNvSpPr/>
          <p:nvPr/>
        </p:nvSpPr>
        <p:spPr>
          <a:xfrm>
            <a:off x="457200" y="4389120"/>
            <a:ext cx="8229600" cy="365760"/>
          </a:xfrm>
          <a:prstGeom prst="rect">
            <a:avLst/>
          </a:prstGeom>
          <a:noFill/>
          <a:ln/>
        </p:spPr>
        <p:txBody>
          <a:bodyPr wrap="square" rtlCol="0" anchor="ctr"/>
          <a:lstStyle/>
          <a:p>
            <a:pPr marL="0" indent="0" algn="ctr">
              <a:buNone/>
            </a:pPr>
            <a:r>
              <a:rPr lang="en-US" sz="1400" i="1" dirty="0">
                <a:solidFill>
                  <a:srgbClr val="21D4DE"/>
                </a:solidFill>
                <a:latin typeface="Arial" pitchFamily="34" charset="0"/>
                <a:ea typeface="Arial" pitchFamily="34" charset="-122"/>
                <a:cs typeface="Arial" pitchFamily="34" charset="-120"/>
              </a:rPr>
              <a:t>Share your thoughts and experiences...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828</Words>
  <Application>Microsoft Office PowerPoint</Application>
  <PresentationFormat>On-screen Show (16:9)</PresentationFormat>
  <Paragraphs>62</Paragraphs>
  <Slides>7</Slides>
  <Notes>7</Notes>
  <HiddenSlides>0</HiddenSlides>
  <MMClips>2</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Coding Assistants and the Future of Software Development</dc:title>
  <dc:subject>PptxGenJS Presentation</dc:subject>
  <dc:creator>Technology Presentation</dc:creator>
  <cp:lastModifiedBy>HeeJung Kim</cp:lastModifiedBy>
  <cp:revision>2</cp:revision>
  <dcterms:created xsi:type="dcterms:W3CDTF">2026-06-15T22:53:50Z</dcterms:created>
  <dcterms:modified xsi:type="dcterms:W3CDTF">2026-08-06T01:58:56Z</dcterms:modified>
</cp:coreProperties>
</file>